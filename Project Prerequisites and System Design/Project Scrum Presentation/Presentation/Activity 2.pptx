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Krona One"/>
      <p:regular r:id="rId18"/>
    </p:embeddedFont>
    <p:embeddedFont>
      <p:font typeface="DM Sans Light"/>
      <p:regular r:id="rId19"/>
      <p:bold r:id="rId20"/>
      <p:italic r:id="rId21"/>
      <p:boldItalic r:id="rId22"/>
    </p:embeddedFont>
    <p:embeddedFont>
      <p:font typeface="Noto Sans Symbols"/>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y66+krIZMgfsXdZssOnT3WOXr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BA0A81A-D5BA-4B6C-B7B5-3893A23F0F7D}">
  <a:tblStyle styleId="{CBA0A81A-D5BA-4B6C-B7B5-3893A23F0F7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DMSansLight-bold.fntdata"/><Relationship Id="rId22" Type="http://schemas.openxmlformats.org/officeDocument/2006/relationships/font" Target="fonts/DMSansLight-boldItalic.fntdata"/><Relationship Id="rId21" Type="http://schemas.openxmlformats.org/officeDocument/2006/relationships/font" Target="fonts/DMSansLight-italic.fntdata"/><Relationship Id="rId24" Type="http://schemas.openxmlformats.org/officeDocument/2006/relationships/font" Target="fonts/NotoSansSymbols-bold.fntdata"/><Relationship Id="rId23" Type="http://schemas.openxmlformats.org/officeDocument/2006/relationships/font" Target="fonts/NotoSansSymbol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DMSansLight-regular.fntdata"/><Relationship Id="rId18" Type="http://schemas.openxmlformats.org/officeDocument/2006/relationships/font" Target="fonts/KronaOne-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solidFill>
                  <a:schemeClr val="dk1"/>
                </a:solidFill>
              </a:rPr>
              <a:t>As a quick recap from our project pitch,</a:t>
            </a:r>
            <a:r>
              <a:rPr b="1" lang="en-US">
                <a:solidFill>
                  <a:schemeClr val="dk1"/>
                </a:solidFill>
              </a:rPr>
              <a:t> </a:t>
            </a:r>
            <a:r>
              <a:rPr lang="en-US">
                <a:solidFill>
                  <a:schemeClr val="dk1"/>
                </a:solidFill>
              </a:rPr>
              <a:t>UR Involved is a centralized platform that allows students to discover clubs, request membership, and propose new clubs at the University of Regina. Today we’ll walk through our project planning and system design, and gather feedback on our prototype.</a:t>
            </a:r>
            <a:endParaRPr/>
          </a:p>
        </p:txBody>
      </p:sp>
      <p:sp>
        <p:nvSpPr>
          <p:cNvPr id="110" name="Google Shape;11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4cbb3fbfa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4cbb3fbfa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c502f1063f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c502f1063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cd56b5f7c_2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ccd56b5f7c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cd56b5f7c_2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ccd56b5f7c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Two key workflows drive the system: the membership request workflow and the club creation approval workflow</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cd56b5f7c_2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ccd56b5f7c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cca83d6d18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cca83d6d1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ccd56b5f7c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ccd56b5f7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IT SHOWS HOW DIFFERENT USERS PERFORM DIFFERENT ACTIONS IN THE SYSTEM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ccd56b5f7c_1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ccd56b5f7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IT SHOWS THE STRUCTURE OF THE SYSTEM AND HOW THE SYSTEM IS ORGANIZED. THE MAIN CLASSES ARE USER, JOIN REQUEST AND CLUB ADMIN. EACH CLASSES STORES DIFFERENT INFORMATION LIKE USER DETAILS , CLUB INFORMATION.  AND JOIN REQUEST STATUS. THE RELATIONSHIP SHOW HOW USERS CAN SEND JOIN REQUESTS AND HOW ADMINS MANAGE THOSE REQUESTS.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ca83d6d18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cca83d6d1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explain content of slide, load images of relevant pages and explain them. did not include them in presentation because cannot fit in slides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502f1063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c502f1063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c502f1063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c502f1063f_0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hyperlink" Target="http://bit.ly/2Tynxth" TargetMode="External"/><Relationship Id="rId4" Type="http://schemas.openxmlformats.org/officeDocument/2006/relationships/hyperlink" Target="http://bit.ly/2TtBDfr" TargetMode="External"/><Relationship Id="rId5" Type="http://schemas.openxmlformats.org/officeDocument/2006/relationships/image" Target="../media/image6.png"/><Relationship Id="rId6" Type="http://schemas.openxmlformats.org/officeDocument/2006/relationships/image" Target="../media/image2.png"/><Relationship Id="rId7"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6" name="Shape 6"/>
        <p:cNvGrpSpPr/>
        <p:nvPr/>
      </p:nvGrpSpPr>
      <p:grpSpPr>
        <a:xfrm>
          <a:off x="0" y="0"/>
          <a:ext cx="0" cy="0"/>
          <a:chOff x="0" y="0"/>
          <a:chExt cx="0" cy="0"/>
        </a:xfrm>
      </p:grpSpPr>
      <p:grpSp>
        <p:nvGrpSpPr>
          <p:cNvPr id="7" name="Google Shape;7;p14"/>
          <p:cNvGrpSpPr/>
          <p:nvPr/>
        </p:nvGrpSpPr>
        <p:grpSpPr>
          <a:xfrm>
            <a:off x="-2398971" y="-3503795"/>
            <a:ext cx="14587176" cy="13746944"/>
            <a:chOff x="-2398971" y="-3503795"/>
            <a:chExt cx="14587176" cy="13746944"/>
          </a:xfrm>
        </p:grpSpPr>
        <p:grpSp>
          <p:nvGrpSpPr>
            <p:cNvPr id="8" name="Google Shape;8;p14"/>
            <p:cNvGrpSpPr/>
            <p:nvPr/>
          </p:nvGrpSpPr>
          <p:grpSpPr>
            <a:xfrm>
              <a:off x="-2398971" y="-3503795"/>
              <a:ext cx="14388511" cy="13746944"/>
              <a:chOff x="-2398971" y="-3503795"/>
              <a:chExt cx="14388511" cy="13746944"/>
            </a:xfrm>
          </p:grpSpPr>
          <p:sp>
            <p:nvSpPr>
              <p:cNvPr id="9" name="Google Shape;9;p14"/>
              <p:cNvSpPr/>
              <p:nvPr/>
            </p:nvSpPr>
            <p:spPr>
              <a:xfrm rot="4815600">
                <a:off x="-1871640" y="-1207080"/>
                <a:ext cx="6486840" cy="6538320"/>
              </a:xfrm>
              <a:prstGeom prst="ellipse">
                <a:avLst/>
              </a:prstGeom>
              <a:gradFill>
                <a:gsLst>
                  <a:gs pos="0">
                    <a:srgbClr val="1645D3">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 name="Google Shape;10;p14"/>
              <p:cNvSpPr/>
              <p:nvPr/>
            </p:nvSpPr>
            <p:spPr>
              <a:xfrm rot="4815600">
                <a:off x="-1865160" y="2293920"/>
                <a:ext cx="4917240" cy="4956120"/>
              </a:xfrm>
              <a:prstGeom prst="ellipse">
                <a:avLst/>
              </a:prstGeom>
              <a:gradFill>
                <a:gsLst>
                  <a:gs pos="0">
                    <a:srgbClr val="E0FE68">
                      <a:alpha val="51764"/>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1" name="Google Shape;11;p14"/>
              <p:cNvSpPr/>
              <p:nvPr/>
            </p:nvSpPr>
            <p:spPr>
              <a:xfrm rot="4815600">
                <a:off x="5302800" y="-21600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 name="Google Shape;12;p14"/>
              <p:cNvSpPr/>
              <p:nvPr/>
            </p:nvSpPr>
            <p:spPr>
              <a:xfrm rot="4815600">
                <a:off x="1213920" y="1645920"/>
                <a:ext cx="7945560" cy="8008560"/>
              </a:xfrm>
              <a:prstGeom prst="ellipse">
                <a:avLst/>
              </a:prstGeom>
              <a:gradFill>
                <a:gsLst>
                  <a:gs pos="0">
                    <a:srgbClr val="9900FF">
                      <a:alpha val="65882"/>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 name="Google Shape;13;p14"/>
              <p:cNvSpPr/>
              <p:nvPr/>
            </p:nvSpPr>
            <p:spPr>
              <a:xfrm rot="4815600">
                <a:off x="939240" y="-304560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14" name="Google Shape;14;p14"/>
            <p:cNvSpPr/>
            <p:nvPr/>
          </p:nvSpPr>
          <p:spPr>
            <a:xfrm rot="4815600">
              <a:off x="3596760" y="469800"/>
              <a:ext cx="7945560" cy="8008560"/>
            </a:xfrm>
            <a:prstGeom prst="ellipse">
              <a:avLst/>
            </a:prstGeom>
            <a:gradFill>
              <a:gsLst>
                <a:gs pos="0">
                  <a:srgbClr val="9900FF">
                    <a:alpha val="65882"/>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 name="Google Shape;15;p14"/>
            <p:cNvSpPr/>
            <p:nvPr/>
          </p:nvSpPr>
          <p:spPr>
            <a:xfrm rot="4815600">
              <a:off x="148680" y="2532240"/>
              <a:ext cx="4917240" cy="4956120"/>
            </a:xfrm>
            <a:prstGeom prst="ellipse">
              <a:avLst/>
            </a:prstGeom>
            <a:gradFill>
              <a:gsLst>
                <a:gs pos="0">
                  <a:srgbClr val="E0FE68">
                    <a:alpha val="51764"/>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grpSp>
      <p:pic>
        <p:nvPicPr>
          <p:cNvPr id="16" name="Google Shape;16;p14"/>
          <p:cNvPicPr preferRelativeResize="0"/>
          <p:nvPr/>
        </p:nvPicPr>
        <p:blipFill rotWithShape="1">
          <a:blip r:embed="rId2">
            <a:alphaModFix amt="21000"/>
          </a:blip>
          <a:srcRect b="0" l="0" r="0" t="0"/>
          <a:stretch/>
        </p:blipFill>
        <p:spPr>
          <a:xfrm>
            <a:off x="0" y="0"/>
            <a:ext cx="9143640" cy="5143320"/>
          </a:xfrm>
          <a:prstGeom prst="rect">
            <a:avLst/>
          </a:prstGeom>
          <a:noFill/>
          <a:ln>
            <a:noFill/>
          </a:ln>
        </p:spPr>
      </p:pic>
      <p:sp>
        <p:nvSpPr>
          <p:cNvPr id="17" name="Google Shape;17;p14"/>
          <p:cNvSpPr txBox="1"/>
          <p:nvPr>
            <p:ph type="title"/>
          </p:nvPr>
        </p:nvSpPr>
        <p:spPr>
          <a:xfrm>
            <a:off x="749880" y="1335240"/>
            <a:ext cx="7644240" cy="156132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18" name="Google Shape;18;p14"/>
          <p:cNvPicPr preferRelativeResize="0"/>
          <p:nvPr/>
        </p:nvPicPr>
        <p:blipFill rotWithShape="1">
          <a:blip r:embed="rId3">
            <a:alphaModFix amt="83000"/>
          </a:blip>
          <a:srcRect b="0" l="0" r="0" t="0"/>
          <a:stretch/>
        </p:blipFill>
        <p:spPr>
          <a:xfrm>
            <a:off x="-1418040" y="2178360"/>
            <a:ext cx="2560680" cy="2468520"/>
          </a:xfrm>
          <a:prstGeom prst="rect">
            <a:avLst/>
          </a:prstGeom>
          <a:noFill/>
          <a:ln>
            <a:noFill/>
          </a:ln>
        </p:spPr>
      </p:pic>
      <p:pic>
        <p:nvPicPr>
          <p:cNvPr id="19" name="Google Shape;19;p14"/>
          <p:cNvPicPr preferRelativeResize="0"/>
          <p:nvPr/>
        </p:nvPicPr>
        <p:blipFill rotWithShape="1">
          <a:blip r:embed="rId3">
            <a:alphaModFix amt="73000"/>
          </a:blip>
          <a:srcRect b="0" l="0" r="0" t="0"/>
          <a:stretch/>
        </p:blipFill>
        <p:spPr>
          <a:xfrm rot="10800000">
            <a:off x="8072280" y="643680"/>
            <a:ext cx="1938600" cy="1868760"/>
          </a:xfrm>
          <a:prstGeom prst="rect">
            <a:avLst/>
          </a:prstGeom>
          <a:noFill/>
          <a:ln>
            <a:noFill/>
          </a:ln>
        </p:spPr>
      </p:pic>
      <p:sp>
        <p:nvSpPr>
          <p:cNvPr id="20" name="Google Shape;20;p1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_1_1" type="blank">
  <p:cSld name="BLANK">
    <p:bg>
      <p:bgPr>
        <a:solidFill>
          <a:schemeClr val="lt1"/>
        </a:solidFill>
      </p:bgPr>
    </p:bg>
    <p:spTree>
      <p:nvGrpSpPr>
        <p:cNvPr id="21" name="Shape 21"/>
        <p:cNvGrpSpPr/>
        <p:nvPr/>
      </p:nvGrpSpPr>
      <p:grpSpPr>
        <a:xfrm>
          <a:off x="0" y="0"/>
          <a:ext cx="0" cy="0"/>
          <a:chOff x="0" y="0"/>
          <a:chExt cx="0" cy="0"/>
        </a:xfrm>
      </p:grpSpPr>
      <p:grpSp>
        <p:nvGrpSpPr>
          <p:cNvPr id="22" name="Google Shape;22;p17"/>
          <p:cNvGrpSpPr/>
          <p:nvPr/>
        </p:nvGrpSpPr>
        <p:grpSpPr>
          <a:xfrm>
            <a:off x="-4423781" y="-4210176"/>
            <a:ext cx="18226282" cy="14424885"/>
            <a:chOff x="-4423781" y="-4210176"/>
            <a:chExt cx="18226282" cy="14424885"/>
          </a:xfrm>
        </p:grpSpPr>
        <p:grpSp>
          <p:nvGrpSpPr>
            <p:cNvPr id="23" name="Google Shape;23;p17"/>
            <p:cNvGrpSpPr/>
            <p:nvPr/>
          </p:nvGrpSpPr>
          <p:grpSpPr>
            <a:xfrm>
              <a:off x="-4423781" y="-4210176"/>
              <a:ext cx="18226282" cy="14424885"/>
              <a:chOff x="-4423781" y="-4210176"/>
              <a:chExt cx="18226282" cy="14424885"/>
            </a:xfrm>
          </p:grpSpPr>
          <p:sp>
            <p:nvSpPr>
              <p:cNvPr id="24" name="Google Shape;24;p17"/>
              <p:cNvSpPr/>
              <p:nvPr/>
            </p:nvSpPr>
            <p:spPr>
              <a:xfrm rot="4815600">
                <a:off x="-3170520" y="-3729600"/>
                <a:ext cx="6486840" cy="6538320"/>
              </a:xfrm>
              <a:prstGeom prst="ellipse">
                <a:avLst/>
              </a:prstGeom>
              <a:gradFill>
                <a:gsLst>
                  <a:gs pos="0">
                    <a:srgbClr val="1645D3">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 name="Google Shape;25;p17"/>
              <p:cNvSpPr/>
              <p:nvPr/>
            </p:nvSpPr>
            <p:spPr>
              <a:xfrm rot="4815600">
                <a:off x="6406920" y="-2602080"/>
                <a:ext cx="4917240" cy="4956120"/>
              </a:xfrm>
              <a:prstGeom prst="ellipse">
                <a:avLst/>
              </a:prstGeom>
              <a:gradFill>
                <a:gsLst>
                  <a:gs pos="0">
                    <a:srgbClr val="E0FE68">
                      <a:alpha val="51764"/>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6" name="Google Shape;26;p17"/>
              <p:cNvSpPr/>
              <p:nvPr/>
            </p:nvSpPr>
            <p:spPr>
              <a:xfrm rot="4815600">
                <a:off x="7115760" y="-28044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7" name="Google Shape;27;p17"/>
              <p:cNvSpPr/>
              <p:nvPr/>
            </p:nvSpPr>
            <p:spPr>
              <a:xfrm rot="4815600">
                <a:off x="5136840" y="1617480"/>
                <a:ext cx="7945560" cy="8008560"/>
              </a:xfrm>
              <a:prstGeom prst="ellipse">
                <a:avLst/>
              </a:prstGeom>
              <a:gradFill>
                <a:gsLst>
                  <a:gs pos="0">
                    <a:srgbClr val="9900FF">
                      <a:alpha val="65882"/>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 name="Google Shape;28;p17"/>
              <p:cNvSpPr/>
              <p:nvPr/>
            </p:nvSpPr>
            <p:spPr>
              <a:xfrm rot="4815600">
                <a:off x="-3921120" y="-132264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29" name="Google Shape;29;p17"/>
            <p:cNvSpPr/>
            <p:nvPr/>
          </p:nvSpPr>
          <p:spPr>
            <a:xfrm rot="4815600">
              <a:off x="-3391200" y="1734120"/>
              <a:ext cx="4917240" cy="4956120"/>
            </a:xfrm>
            <a:prstGeom prst="ellipse">
              <a:avLst/>
            </a:prstGeom>
            <a:gradFill>
              <a:gsLst>
                <a:gs pos="0">
                  <a:srgbClr val="E0FE68">
                    <a:alpha val="51764"/>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grpSp>
      <p:pic>
        <p:nvPicPr>
          <p:cNvPr id="30" name="Google Shape;30;p17"/>
          <p:cNvPicPr preferRelativeResize="0"/>
          <p:nvPr/>
        </p:nvPicPr>
        <p:blipFill rotWithShape="1">
          <a:blip r:embed="rId2">
            <a:alphaModFix amt="21000"/>
          </a:blip>
          <a:srcRect b="0" l="0" r="0" t="0"/>
          <a:stretch/>
        </p:blipFill>
        <p:spPr>
          <a:xfrm>
            <a:off x="0" y="0"/>
            <a:ext cx="9143640" cy="5143320"/>
          </a:xfrm>
          <a:prstGeom prst="rect">
            <a:avLst/>
          </a:prstGeom>
          <a:noFill/>
          <a:ln>
            <a:noFill/>
          </a:ln>
        </p:spPr>
      </p:pic>
      <p:sp>
        <p:nvSpPr>
          <p:cNvPr id="31" name="Google Shape;31;p17"/>
          <p:cNvSpPr txBox="1"/>
          <p:nvPr>
            <p:ph type="title"/>
          </p:nvPr>
        </p:nvSpPr>
        <p:spPr>
          <a:xfrm>
            <a:off x="856080" y="457200"/>
            <a:ext cx="7430760" cy="57132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2" name="Google Shape;32;p1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
  <p:cSld name="CUSTOM_3">
    <p:bg>
      <p:bgPr>
        <a:solidFill>
          <a:schemeClr val="lt1"/>
        </a:solidFill>
      </p:bgPr>
    </p:bg>
    <p:spTree>
      <p:nvGrpSpPr>
        <p:cNvPr id="33" name="Shape 33"/>
        <p:cNvGrpSpPr/>
        <p:nvPr/>
      </p:nvGrpSpPr>
      <p:grpSpPr>
        <a:xfrm>
          <a:off x="0" y="0"/>
          <a:ext cx="0" cy="0"/>
          <a:chOff x="0" y="0"/>
          <a:chExt cx="0" cy="0"/>
        </a:xfrm>
      </p:grpSpPr>
      <p:grpSp>
        <p:nvGrpSpPr>
          <p:cNvPr id="34" name="Google Shape;34;p21"/>
          <p:cNvGrpSpPr/>
          <p:nvPr/>
        </p:nvGrpSpPr>
        <p:grpSpPr>
          <a:xfrm>
            <a:off x="-3456291" y="-3517475"/>
            <a:ext cx="14928456" cy="12820304"/>
            <a:chOff x="-3456291" y="-3517475"/>
            <a:chExt cx="14928456" cy="12820304"/>
          </a:xfrm>
        </p:grpSpPr>
        <p:grpSp>
          <p:nvGrpSpPr>
            <p:cNvPr id="35" name="Google Shape;35;p21"/>
            <p:cNvGrpSpPr/>
            <p:nvPr/>
          </p:nvGrpSpPr>
          <p:grpSpPr>
            <a:xfrm>
              <a:off x="-3456291" y="-3517475"/>
              <a:ext cx="14388511" cy="12820304"/>
              <a:chOff x="-3456291" y="-3517475"/>
              <a:chExt cx="14388511" cy="12820304"/>
            </a:xfrm>
          </p:grpSpPr>
          <p:sp>
            <p:nvSpPr>
              <p:cNvPr id="36" name="Google Shape;36;p21"/>
              <p:cNvSpPr/>
              <p:nvPr/>
            </p:nvSpPr>
            <p:spPr>
              <a:xfrm rot="4815600">
                <a:off x="-2928960" y="-1220760"/>
                <a:ext cx="6486840" cy="6538320"/>
              </a:xfrm>
              <a:prstGeom prst="ellipse">
                <a:avLst/>
              </a:prstGeom>
              <a:gradFill>
                <a:gsLst>
                  <a:gs pos="0">
                    <a:srgbClr val="1645D3">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7" name="Google Shape;37;p21"/>
              <p:cNvSpPr/>
              <p:nvPr/>
            </p:nvSpPr>
            <p:spPr>
              <a:xfrm rot="4815600">
                <a:off x="-2922480" y="2280240"/>
                <a:ext cx="4917240" cy="4956120"/>
              </a:xfrm>
              <a:prstGeom prst="ellipse">
                <a:avLst/>
              </a:prstGeom>
              <a:gradFill>
                <a:gsLst>
                  <a:gs pos="0">
                    <a:srgbClr val="E0FE68">
                      <a:alpha val="51764"/>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8" name="Google Shape;38;p21"/>
              <p:cNvSpPr/>
              <p:nvPr/>
            </p:nvSpPr>
            <p:spPr>
              <a:xfrm rot="4815600">
                <a:off x="4245480" y="-22968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9" name="Google Shape;39;p21"/>
              <p:cNvSpPr/>
              <p:nvPr/>
            </p:nvSpPr>
            <p:spPr>
              <a:xfrm rot="4815600">
                <a:off x="818280" y="705600"/>
                <a:ext cx="7945560" cy="8008560"/>
              </a:xfrm>
              <a:prstGeom prst="ellipse">
                <a:avLst/>
              </a:prstGeom>
              <a:gradFill>
                <a:gsLst>
                  <a:gs pos="0">
                    <a:srgbClr val="9900FF">
                      <a:alpha val="65882"/>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0" name="Google Shape;40;p21"/>
              <p:cNvSpPr/>
              <p:nvPr/>
            </p:nvSpPr>
            <p:spPr>
              <a:xfrm rot="4815600">
                <a:off x="-117720" y="-305928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41" name="Google Shape;41;p21"/>
            <p:cNvSpPr/>
            <p:nvPr/>
          </p:nvSpPr>
          <p:spPr>
            <a:xfrm rot="4815600">
              <a:off x="2880720" y="-2579400"/>
              <a:ext cx="7945560" cy="8008560"/>
            </a:xfrm>
            <a:prstGeom prst="ellipse">
              <a:avLst/>
            </a:prstGeom>
            <a:gradFill>
              <a:gsLst>
                <a:gs pos="0">
                  <a:srgbClr val="9900FF">
                    <a:alpha val="65882"/>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2" name="Google Shape;42;p21"/>
            <p:cNvSpPr/>
            <p:nvPr/>
          </p:nvSpPr>
          <p:spPr>
            <a:xfrm rot="4815600">
              <a:off x="4214520" y="3146040"/>
              <a:ext cx="4917240" cy="4956120"/>
            </a:xfrm>
            <a:prstGeom prst="ellipse">
              <a:avLst/>
            </a:prstGeom>
            <a:gradFill>
              <a:gsLst>
                <a:gs pos="0">
                  <a:srgbClr val="E0FE68">
                    <a:alpha val="51764"/>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grpSp>
      <p:pic>
        <p:nvPicPr>
          <p:cNvPr id="43" name="Google Shape;43;p21"/>
          <p:cNvPicPr preferRelativeResize="0"/>
          <p:nvPr/>
        </p:nvPicPr>
        <p:blipFill rotWithShape="1">
          <a:blip r:embed="rId2">
            <a:alphaModFix amt="21000"/>
          </a:blip>
          <a:srcRect b="0" l="0" r="0" t="0"/>
          <a:stretch/>
        </p:blipFill>
        <p:spPr>
          <a:xfrm>
            <a:off x="0" y="0"/>
            <a:ext cx="9143640" cy="5143320"/>
          </a:xfrm>
          <a:prstGeom prst="rect">
            <a:avLst/>
          </a:prstGeom>
          <a:noFill/>
          <a:ln>
            <a:noFill/>
          </a:ln>
        </p:spPr>
      </p:pic>
      <p:sp>
        <p:nvSpPr>
          <p:cNvPr id="44" name="Google Shape;44;p21"/>
          <p:cNvSpPr txBox="1"/>
          <p:nvPr>
            <p:ph type="title"/>
          </p:nvPr>
        </p:nvSpPr>
        <p:spPr>
          <a:xfrm>
            <a:off x="2088000" y="678600"/>
            <a:ext cx="4967640" cy="94212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21"/>
          <p:cNvSpPr/>
          <p:nvPr/>
        </p:nvSpPr>
        <p:spPr>
          <a:xfrm>
            <a:off x="2343960" y="3336480"/>
            <a:ext cx="4455720" cy="7520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CREDITS: This presentation template was created by </a:t>
            </a:r>
            <a:r>
              <a:rPr b="1" i="0" lang="en-US" sz="1100" u="sng" cap="none" strike="noStrike">
                <a:solidFill>
                  <a:schemeClr val="dk1"/>
                </a:solidFill>
                <a:latin typeface="arial"/>
                <a:ea typeface="arial"/>
                <a:cs typeface="arial"/>
                <a:sym typeface="arial"/>
                <a:hlinkClick r:id="rId3">
                  <a:extLst>
                    <a:ext uri="{A12FA001-AC4F-418D-AE19-62706E023703}">
                      <ahyp:hlinkClr val="tx"/>
                    </a:ext>
                  </a:extLst>
                </a:hlinkClick>
              </a:rPr>
              <a:t>Slidesgo</a:t>
            </a:r>
            <a:r>
              <a:rPr b="0" i="0" lang="en-US" sz="1100" u="none" cap="none" strike="noStrike">
                <a:solidFill>
                  <a:schemeClr val="dk1"/>
                </a:solidFill>
                <a:latin typeface="arial"/>
                <a:ea typeface="arial"/>
                <a:cs typeface="arial"/>
                <a:sym typeface="arial"/>
              </a:rPr>
              <a:t>, including icons, infographics &amp; images by </a:t>
            </a:r>
            <a:r>
              <a:rPr b="1" i="0" lang="en-US" sz="1100" u="sng" cap="none" strike="noStrike">
                <a:solidFill>
                  <a:schemeClr val="dk1"/>
                </a:solidFill>
                <a:latin typeface="arial"/>
                <a:ea typeface="arial"/>
                <a:cs typeface="arial"/>
                <a:sym typeface="arial"/>
                <a:hlinkClick r:id="rId4">
                  <a:extLst>
                    <a:ext uri="{A12FA001-AC4F-418D-AE19-62706E023703}">
                      <ahyp:hlinkClr val="tx"/>
                    </a:ext>
                  </a:extLst>
                </a:hlinkClick>
              </a:rPr>
              <a:t>Freepik</a:t>
            </a:r>
            <a:endParaRPr b="0" i="0" sz="1100" u="none" cap="none" strike="noStrike">
              <a:solidFill>
                <a:srgbClr val="FFFFFF"/>
              </a:solidFill>
              <a:latin typeface="Noto Sans Symbols"/>
              <a:ea typeface="Noto Sans Symbols"/>
              <a:cs typeface="Noto Sans Symbols"/>
              <a:sym typeface="Noto Sans Symbols"/>
            </a:endParaRPr>
          </a:p>
        </p:txBody>
      </p:sp>
      <p:pic>
        <p:nvPicPr>
          <p:cNvPr id="46" name="Google Shape;46;p21"/>
          <p:cNvPicPr preferRelativeResize="0"/>
          <p:nvPr/>
        </p:nvPicPr>
        <p:blipFill rotWithShape="1">
          <a:blip r:embed="rId5">
            <a:alphaModFix amt="58000"/>
          </a:blip>
          <a:srcRect b="15" l="0" r="0" t="15"/>
          <a:stretch/>
        </p:blipFill>
        <p:spPr>
          <a:xfrm rot="-3022800">
            <a:off x="6403320" y="1937520"/>
            <a:ext cx="2841120" cy="2811240"/>
          </a:xfrm>
          <a:prstGeom prst="rect">
            <a:avLst/>
          </a:prstGeom>
          <a:noFill/>
          <a:ln>
            <a:noFill/>
          </a:ln>
        </p:spPr>
      </p:pic>
      <p:pic>
        <p:nvPicPr>
          <p:cNvPr id="47" name="Google Shape;47;p21"/>
          <p:cNvPicPr preferRelativeResize="0"/>
          <p:nvPr/>
        </p:nvPicPr>
        <p:blipFill rotWithShape="1">
          <a:blip r:embed="rId6">
            <a:alphaModFix amt="58000"/>
          </a:blip>
          <a:srcRect b="0" l="181" r="180" t="0"/>
          <a:stretch/>
        </p:blipFill>
        <p:spPr>
          <a:xfrm rot="7206000">
            <a:off x="-654480" y="700200"/>
            <a:ext cx="3073320" cy="3041280"/>
          </a:xfrm>
          <a:prstGeom prst="rect">
            <a:avLst/>
          </a:prstGeom>
          <a:noFill/>
          <a:ln>
            <a:noFill/>
          </a:ln>
        </p:spPr>
      </p:pic>
      <p:pic>
        <p:nvPicPr>
          <p:cNvPr id="48" name="Google Shape;48;p21"/>
          <p:cNvPicPr preferRelativeResize="0"/>
          <p:nvPr/>
        </p:nvPicPr>
        <p:blipFill rotWithShape="1">
          <a:blip r:embed="rId7">
            <a:alphaModFix amt="58000"/>
          </a:blip>
          <a:srcRect b="0" l="1293" r="1287" t="0"/>
          <a:stretch/>
        </p:blipFill>
        <p:spPr>
          <a:xfrm rot="-4312800">
            <a:off x="-1060560" y="2286000"/>
            <a:ext cx="2285280" cy="2261520"/>
          </a:xfrm>
          <a:prstGeom prst="rect">
            <a:avLst/>
          </a:prstGeom>
          <a:noFill/>
          <a:ln>
            <a:noFill/>
          </a:ln>
        </p:spPr>
      </p:pic>
      <p:pic>
        <p:nvPicPr>
          <p:cNvPr id="49" name="Google Shape;49;p21"/>
          <p:cNvPicPr preferRelativeResize="0"/>
          <p:nvPr/>
        </p:nvPicPr>
        <p:blipFill rotWithShape="1">
          <a:blip r:embed="rId7">
            <a:alphaModFix amt="52000"/>
          </a:blip>
          <a:srcRect b="0" l="1293" r="1287" t="0"/>
          <a:stretch/>
        </p:blipFill>
        <p:spPr>
          <a:xfrm rot="7074600">
            <a:off x="7506000" y="789480"/>
            <a:ext cx="2023200" cy="200232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
  <p:cSld name="BLANK_1_1">
    <p:bg>
      <p:bgPr>
        <a:solidFill>
          <a:schemeClr val="lt1"/>
        </a:solidFill>
      </p:bgPr>
    </p:bg>
    <p:spTree>
      <p:nvGrpSpPr>
        <p:cNvPr id="50" name="Shape 50"/>
        <p:cNvGrpSpPr/>
        <p:nvPr/>
      </p:nvGrpSpPr>
      <p:grpSpPr>
        <a:xfrm>
          <a:off x="0" y="0"/>
          <a:ext cx="0" cy="0"/>
          <a:chOff x="0" y="0"/>
          <a:chExt cx="0" cy="0"/>
        </a:xfrm>
      </p:grpSpPr>
      <p:grpSp>
        <p:nvGrpSpPr>
          <p:cNvPr id="51" name="Google Shape;51;p22"/>
          <p:cNvGrpSpPr/>
          <p:nvPr/>
        </p:nvGrpSpPr>
        <p:grpSpPr>
          <a:xfrm>
            <a:off x="-2398971" y="-3503795"/>
            <a:ext cx="14587176" cy="13746944"/>
            <a:chOff x="-2398971" y="-3503795"/>
            <a:chExt cx="14587176" cy="13746944"/>
          </a:xfrm>
        </p:grpSpPr>
        <p:grpSp>
          <p:nvGrpSpPr>
            <p:cNvPr id="52" name="Google Shape;52;p22"/>
            <p:cNvGrpSpPr/>
            <p:nvPr/>
          </p:nvGrpSpPr>
          <p:grpSpPr>
            <a:xfrm>
              <a:off x="-2398971" y="-3503795"/>
              <a:ext cx="14388511" cy="13746944"/>
              <a:chOff x="-2398971" y="-3503795"/>
              <a:chExt cx="14388511" cy="13746944"/>
            </a:xfrm>
          </p:grpSpPr>
          <p:sp>
            <p:nvSpPr>
              <p:cNvPr id="53" name="Google Shape;53;p22"/>
              <p:cNvSpPr/>
              <p:nvPr/>
            </p:nvSpPr>
            <p:spPr>
              <a:xfrm rot="4815600">
                <a:off x="-1871640" y="-1207080"/>
                <a:ext cx="6486840" cy="6538320"/>
              </a:xfrm>
              <a:prstGeom prst="ellipse">
                <a:avLst/>
              </a:prstGeom>
              <a:gradFill>
                <a:gsLst>
                  <a:gs pos="0">
                    <a:srgbClr val="1645D3">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 name="Google Shape;54;p22"/>
              <p:cNvSpPr/>
              <p:nvPr/>
            </p:nvSpPr>
            <p:spPr>
              <a:xfrm rot="4815600">
                <a:off x="-1865160" y="2293920"/>
                <a:ext cx="4917240" cy="4956120"/>
              </a:xfrm>
              <a:prstGeom prst="ellipse">
                <a:avLst/>
              </a:prstGeom>
              <a:gradFill>
                <a:gsLst>
                  <a:gs pos="0">
                    <a:srgbClr val="E0FE68">
                      <a:alpha val="51764"/>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5" name="Google Shape;55;p22"/>
              <p:cNvSpPr/>
              <p:nvPr/>
            </p:nvSpPr>
            <p:spPr>
              <a:xfrm rot="4815600">
                <a:off x="5302800" y="-21600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6" name="Google Shape;56;p22"/>
              <p:cNvSpPr/>
              <p:nvPr/>
            </p:nvSpPr>
            <p:spPr>
              <a:xfrm rot="4815600">
                <a:off x="1213920" y="1645920"/>
                <a:ext cx="7945560" cy="8008560"/>
              </a:xfrm>
              <a:prstGeom prst="ellipse">
                <a:avLst/>
              </a:prstGeom>
              <a:gradFill>
                <a:gsLst>
                  <a:gs pos="0">
                    <a:srgbClr val="9900FF">
                      <a:alpha val="65882"/>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 name="Google Shape;57;p22"/>
              <p:cNvSpPr/>
              <p:nvPr/>
            </p:nvSpPr>
            <p:spPr>
              <a:xfrm rot="4815600">
                <a:off x="939240" y="-304560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58" name="Google Shape;58;p22"/>
            <p:cNvSpPr/>
            <p:nvPr/>
          </p:nvSpPr>
          <p:spPr>
            <a:xfrm rot="4815600">
              <a:off x="3596760" y="469800"/>
              <a:ext cx="7945560" cy="8008560"/>
            </a:xfrm>
            <a:prstGeom prst="ellipse">
              <a:avLst/>
            </a:prstGeom>
            <a:gradFill>
              <a:gsLst>
                <a:gs pos="0">
                  <a:srgbClr val="9900FF">
                    <a:alpha val="65882"/>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9" name="Google Shape;59;p22"/>
            <p:cNvSpPr/>
            <p:nvPr/>
          </p:nvSpPr>
          <p:spPr>
            <a:xfrm rot="4815600">
              <a:off x="148680" y="2532240"/>
              <a:ext cx="4917240" cy="4956120"/>
            </a:xfrm>
            <a:prstGeom prst="ellipse">
              <a:avLst/>
            </a:prstGeom>
            <a:gradFill>
              <a:gsLst>
                <a:gs pos="0">
                  <a:srgbClr val="E0FE68">
                    <a:alpha val="51764"/>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grpSp>
      <p:pic>
        <p:nvPicPr>
          <p:cNvPr id="60" name="Google Shape;60;p22"/>
          <p:cNvPicPr preferRelativeResize="0"/>
          <p:nvPr/>
        </p:nvPicPr>
        <p:blipFill rotWithShape="1">
          <a:blip r:embed="rId2">
            <a:alphaModFix amt="21000"/>
          </a:blip>
          <a:srcRect b="0" l="0" r="0" t="0"/>
          <a:stretch/>
        </p:blipFill>
        <p:spPr>
          <a:xfrm>
            <a:off x="0" y="0"/>
            <a:ext cx="9143640" cy="5143320"/>
          </a:xfrm>
          <a:prstGeom prst="rect">
            <a:avLst/>
          </a:prstGeom>
          <a:noFill/>
          <a:ln>
            <a:noFill/>
          </a:ln>
        </p:spPr>
      </p:pic>
      <p:sp>
        <p:nvSpPr>
          <p:cNvPr id="61" name="Google Shape;61;p22"/>
          <p:cNvSpPr txBox="1"/>
          <p:nvPr>
            <p:ph type="title"/>
          </p:nvPr>
        </p:nvSpPr>
        <p:spPr>
          <a:xfrm>
            <a:off x="1774080" y="2943000"/>
            <a:ext cx="5595120" cy="48456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4_1">
  <p:cSld name="CUSTOM_4_1">
    <p:bg>
      <p:bgPr>
        <a:solidFill>
          <a:schemeClr val="lt1"/>
        </a:solidFill>
      </p:bgPr>
    </p:bg>
    <p:spTree>
      <p:nvGrpSpPr>
        <p:cNvPr id="62" name="Shape 62"/>
        <p:cNvGrpSpPr/>
        <p:nvPr/>
      </p:nvGrpSpPr>
      <p:grpSpPr>
        <a:xfrm>
          <a:off x="0" y="0"/>
          <a:ext cx="0" cy="0"/>
          <a:chOff x="0" y="0"/>
          <a:chExt cx="0" cy="0"/>
        </a:xfrm>
      </p:grpSpPr>
      <p:grpSp>
        <p:nvGrpSpPr>
          <p:cNvPr id="63" name="Google Shape;63;p23"/>
          <p:cNvGrpSpPr/>
          <p:nvPr/>
        </p:nvGrpSpPr>
        <p:grpSpPr>
          <a:xfrm>
            <a:off x="-2398971" y="-3503795"/>
            <a:ext cx="14587176" cy="13746944"/>
            <a:chOff x="-2398971" y="-3503795"/>
            <a:chExt cx="14587176" cy="13746944"/>
          </a:xfrm>
        </p:grpSpPr>
        <p:grpSp>
          <p:nvGrpSpPr>
            <p:cNvPr id="64" name="Google Shape;64;p23"/>
            <p:cNvGrpSpPr/>
            <p:nvPr/>
          </p:nvGrpSpPr>
          <p:grpSpPr>
            <a:xfrm>
              <a:off x="-2398971" y="-3503795"/>
              <a:ext cx="14388511" cy="13746944"/>
              <a:chOff x="-2398971" y="-3503795"/>
              <a:chExt cx="14388511" cy="13746944"/>
            </a:xfrm>
          </p:grpSpPr>
          <p:sp>
            <p:nvSpPr>
              <p:cNvPr id="65" name="Google Shape;65;p23"/>
              <p:cNvSpPr/>
              <p:nvPr/>
            </p:nvSpPr>
            <p:spPr>
              <a:xfrm rot="4815600">
                <a:off x="-1871640" y="-1207080"/>
                <a:ext cx="6486840" cy="6538320"/>
              </a:xfrm>
              <a:prstGeom prst="ellipse">
                <a:avLst/>
              </a:prstGeom>
              <a:gradFill>
                <a:gsLst>
                  <a:gs pos="0">
                    <a:srgbClr val="1645D3">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6" name="Google Shape;66;p23"/>
              <p:cNvSpPr/>
              <p:nvPr/>
            </p:nvSpPr>
            <p:spPr>
              <a:xfrm rot="4815600">
                <a:off x="-1865160" y="2293920"/>
                <a:ext cx="4917240" cy="4956120"/>
              </a:xfrm>
              <a:prstGeom prst="ellipse">
                <a:avLst/>
              </a:prstGeom>
              <a:gradFill>
                <a:gsLst>
                  <a:gs pos="0">
                    <a:srgbClr val="E0FE68">
                      <a:alpha val="51764"/>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7" name="Google Shape;67;p23"/>
              <p:cNvSpPr/>
              <p:nvPr/>
            </p:nvSpPr>
            <p:spPr>
              <a:xfrm rot="4815600">
                <a:off x="5302800" y="-21600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 name="Google Shape;68;p23"/>
              <p:cNvSpPr/>
              <p:nvPr/>
            </p:nvSpPr>
            <p:spPr>
              <a:xfrm rot="4815600">
                <a:off x="1213920" y="1645920"/>
                <a:ext cx="7945560" cy="8008560"/>
              </a:xfrm>
              <a:prstGeom prst="ellipse">
                <a:avLst/>
              </a:prstGeom>
              <a:gradFill>
                <a:gsLst>
                  <a:gs pos="0">
                    <a:srgbClr val="9900FF">
                      <a:alpha val="65882"/>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 name="Google Shape;69;p23"/>
              <p:cNvSpPr/>
              <p:nvPr/>
            </p:nvSpPr>
            <p:spPr>
              <a:xfrm rot="4815600">
                <a:off x="939240" y="-304560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70" name="Google Shape;70;p23"/>
            <p:cNvSpPr/>
            <p:nvPr/>
          </p:nvSpPr>
          <p:spPr>
            <a:xfrm rot="4815600">
              <a:off x="3596760" y="469800"/>
              <a:ext cx="7945560" cy="8008560"/>
            </a:xfrm>
            <a:prstGeom prst="ellipse">
              <a:avLst/>
            </a:prstGeom>
            <a:gradFill>
              <a:gsLst>
                <a:gs pos="0">
                  <a:srgbClr val="9900FF">
                    <a:alpha val="65882"/>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 name="Google Shape;71;p23"/>
            <p:cNvSpPr/>
            <p:nvPr/>
          </p:nvSpPr>
          <p:spPr>
            <a:xfrm rot="4815600">
              <a:off x="148680" y="2532240"/>
              <a:ext cx="4917240" cy="4956120"/>
            </a:xfrm>
            <a:prstGeom prst="ellipse">
              <a:avLst/>
            </a:prstGeom>
            <a:gradFill>
              <a:gsLst>
                <a:gs pos="0">
                  <a:srgbClr val="E0FE68">
                    <a:alpha val="51764"/>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grpSp>
      <p:pic>
        <p:nvPicPr>
          <p:cNvPr id="72" name="Google Shape;72;p23"/>
          <p:cNvPicPr preferRelativeResize="0"/>
          <p:nvPr/>
        </p:nvPicPr>
        <p:blipFill rotWithShape="1">
          <a:blip r:embed="rId2">
            <a:alphaModFix amt="21000"/>
          </a:blip>
          <a:srcRect b="0" l="0" r="0" t="0"/>
          <a:stretch/>
        </p:blipFill>
        <p:spPr>
          <a:xfrm>
            <a:off x="0" y="0"/>
            <a:ext cx="9143640" cy="5143320"/>
          </a:xfrm>
          <a:prstGeom prst="rect">
            <a:avLst/>
          </a:prstGeom>
          <a:noFill/>
          <a:ln>
            <a:noFill/>
          </a:ln>
        </p:spPr>
      </p:pic>
      <p:sp>
        <p:nvSpPr>
          <p:cNvPr id="73" name="Google Shape;73;p23"/>
          <p:cNvSpPr txBox="1"/>
          <p:nvPr>
            <p:ph type="title"/>
          </p:nvPr>
        </p:nvSpPr>
        <p:spPr>
          <a:xfrm>
            <a:off x="4810320" y="1901880"/>
            <a:ext cx="3598200" cy="50112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_1">
  <p:cSld name="ONE_COLUMN_TEXT_1">
    <p:bg>
      <p:bgPr>
        <a:solidFill>
          <a:schemeClr val="lt1"/>
        </a:solidFill>
      </p:bgPr>
    </p:bg>
    <p:spTree>
      <p:nvGrpSpPr>
        <p:cNvPr id="74" name="Shape 74"/>
        <p:cNvGrpSpPr/>
        <p:nvPr/>
      </p:nvGrpSpPr>
      <p:grpSpPr>
        <a:xfrm>
          <a:off x="0" y="0"/>
          <a:ext cx="0" cy="0"/>
          <a:chOff x="0" y="0"/>
          <a:chExt cx="0" cy="0"/>
        </a:xfrm>
      </p:grpSpPr>
      <p:grpSp>
        <p:nvGrpSpPr>
          <p:cNvPr id="75" name="Google Shape;75;p24"/>
          <p:cNvGrpSpPr/>
          <p:nvPr/>
        </p:nvGrpSpPr>
        <p:grpSpPr>
          <a:xfrm>
            <a:off x="-3456291" y="-3517475"/>
            <a:ext cx="14928456" cy="12820304"/>
            <a:chOff x="-3456291" y="-3517475"/>
            <a:chExt cx="14928456" cy="12820304"/>
          </a:xfrm>
        </p:grpSpPr>
        <p:grpSp>
          <p:nvGrpSpPr>
            <p:cNvPr id="76" name="Google Shape;76;p24"/>
            <p:cNvGrpSpPr/>
            <p:nvPr/>
          </p:nvGrpSpPr>
          <p:grpSpPr>
            <a:xfrm>
              <a:off x="-3456291" y="-3517475"/>
              <a:ext cx="14388511" cy="12820304"/>
              <a:chOff x="-3456291" y="-3517475"/>
              <a:chExt cx="14388511" cy="12820304"/>
            </a:xfrm>
          </p:grpSpPr>
          <p:sp>
            <p:nvSpPr>
              <p:cNvPr id="77" name="Google Shape;77;p24"/>
              <p:cNvSpPr/>
              <p:nvPr/>
            </p:nvSpPr>
            <p:spPr>
              <a:xfrm rot="4815600">
                <a:off x="-2928960" y="-1220760"/>
                <a:ext cx="6486840" cy="6538320"/>
              </a:xfrm>
              <a:prstGeom prst="ellipse">
                <a:avLst/>
              </a:prstGeom>
              <a:gradFill>
                <a:gsLst>
                  <a:gs pos="0">
                    <a:srgbClr val="1645D3">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8" name="Google Shape;78;p24"/>
              <p:cNvSpPr/>
              <p:nvPr/>
            </p:nvSpPr>
            <p:spPr>
              <a:xfrm rot="4815600">
                <a:off x="-2922480" y="2280240"/>
                <a:ext cx="4917240" cy="4956120"/>
              </a:xfrm>
              <a:prstGeom prst="ellipse">
                <a:avLst/>
              </a:prstGeom>
              <a:gradFill>
                <a:gsLst>
                  <a:gs pos="0">
                    <a:srgbClr val="E0FE68">
                      <a:alpha val="51764"/>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 name="Google Shape;79;p24"/>
              <p:cNvSpPr/>
              <p:nvPr/>
            </p:nvSpPr>
            <p:spPr>
              <a:xfrm rot="4815600">
                <a:off x="4245480" y="-22968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 name="Google Shape;80;p24"/>
              <p:cNvSpPr/>
              <p:nvPr/>
            </p:nvSpPr>
            <p:spPr>
              <a:xfrm rot="4815600">
                <a:off x="818280" y="705600"/>
                <a:ext cx="7945560" cy="8008560"/>
              </a:xfrm>
              <a:prstGeom prst="ellipse">
                <a:avLst/>
              </a:prstGeom>
              <a:gradFill>
                <a:gsLst>
                  <a:gs pos="0">
                    <a:srgbClr val="9900FF">
                      <a:alpha val="65882"/>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1" name="Google Shape;81;p24"/>
              <p:cNvSpPr/>
              <p:nvPr/>
            </p:nvSpPr>
            <p:spPr>
              <a:xfrm rot="4815600">
                <a:off x="-117720" y="-305928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82" name="Google Shape;82;p24"/>
            <p:cNvSpPr/>
            <p:nvPr/>
          </p:nvSpPr>
          <p:spPr>
            <a:xfrm rot="4815600">
              <a:off x="2880720" y="-2579400"/>
              <a:ext cx="7945560" cy="8008560"/>
            </a:xfrm>
            <a:prstGeom prst="ellipse">
              <a:avLst/>
            </a:prstGeom>
            <a:gradFill>
              <a:gsLst>
                <a:gs pos="0">
                  <a:srgbClr val="9900FF">
                    <a:alpha val="65882"/>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3" name="Google Shape;83;p24"/>
            <p:cNvSpPr/>
            <p:nvPr/>
          </p:nvSpPr>
          <p:spPr>
            <a:xfrm rot="4815600">
              <a:off x="4214520" y="3146040"/>
              <a:ext cx="4917240" cy="4956120"/>
            </a:xfrm>
            <a:prstGeom prst="ellipse">
              <a:avLst/>
            </a:prstGeom>
            <a:gradFill>
              <a:gsLst>
                <a:gs pos="0">
                  <a:srgbClr val="E0FE68">
                    <a:alpha val="51764"/>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grpSp>
      <p:pic>
        <p:nvPicPr>
          <p:cNvPr id="84" name="Google Shape;84;p24"/>
          <p:cNvPicPr preferRelativeResize="0"/>
          <p:nvPr/>
        </p:nvPicPr>
        <p:blipFill rotWithShape="1">
          <a:blip r:embed="rId2">
            <a:alphaModFix amt="21000"/>
          </a:blip>
          <a:srcRect b="0" l="0" r="0" t="0"/>
          <a:stretch/>
        </p:blipFill>
        <p:spPr>
          <a:xfrm>
            <a:off x="0" y="0"/>
            <a:ext cx="9143640" cy="5143320"/>
          </a:xfrm>
          <a:prstGeom prst="rect">
            <a:avLst/>
          </a:prstGeom>
          <a:noFill/>
          <a:ln>
            <a:noFill/>
          </a:ln>
        </p:spPr>
      </p:pic>
      <p:sp>
        <p:nvSpPr>
          <p:cNvPr id="85" name="Google Shape;85;p24"/>
          <p:cNvSpPr txBox="1"/>
          <p:nvPr>
            <p:ph idx="1" type="body"/>
          </p:nvPr>
        </p:nvSpPr>
        <p:spPr>
          <a:xfrm>
            <a:off x="3804120" y="1678320"/>
            <a:ext cx="4604400" cy="228348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24"/>
          <p:cNvSpPr txBox="1"/>
          <p:nvPr>
            <p:ph type="title"/>
          </p:nvPr>
        </p:nvSpPr>
        <p:spPr>
          <a:xfrm>
            <a:off x="3792600" y="457200"/>
            <a:ext cx="4604400" cy="52704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87" name="Google Shape;87;p24"/>
          <p:cNvPicPr preferRelativeResize="0"/>
          <p:nvPr/>
        </p:nvPicPr>
        <p:blipFill rotWithShape="1">
          <a:blip r:embed="rId3">
            <a:alphaModFix amt="62000"/>
          </a:blip>
          <a:srcRect b="15" l="0" r="0" t="15"/>
          <a:stretch/>
        </p:blipFill>
        <p:spPr>
          <a:xfrm rot="2225400">
            <a:off x="119520" y="-177840"/>
            <a:ext cx="3400560" cy="3364920"/>
          </a:xfrm>
          <a:prstGeom prst="rect">
            <a:avLst/>
          </a:prstGeom>
          <a:noFill/>
          <a:ln>
            <a:noFill/>
          </a:ln>
        </p:spPr>
      </p:pic>
      <p:pic>
        <p:nvPicPr>
          <p:cNvPr id="88" name="Google Shape;88;p24"/>
          <p:cNvPicPr preferRelativeResize="0"/>
          <p:nvPr/>
        </p:nvPicPr>
        <p:blipFill rotWithShape="1">
          <a:blip r:embed="rId3">
            <a:alphaModFix amt="54000"/>
          </a:blip>
          <a:srcRect b="31" l="0" r="0" t="15"/>
          <a:stretch/>
        </p:blipFill>
        <p:spPr>
          <a:xfrm rot="9373800">
            <a:off x="-959760" y="1328040"/>
            <a:ext cx="3592080" cy="355464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8_1_1">
  <p:cSld name="CUSTOM_8_1_1">
    <p:bg>
      <p:bgPr>
        <a:solidFill>
          <a:schemeClr val="lt1"/>
        </a:solidFill>
      </p:bgPr>
    </p:bg>
    <p:spTree>
      <p:nvGrpSpPr>
        <p:cNvPr id="89" name="Shape 89"/>
        <p:cNvGrpSpPr/>
        <p:nvPr/>
      </p:nvGrpSpPr>
      <p:grpSpPr>
        <a:xfrm>
          <a:off x="0" y="0"/>
          <a:ext cx="0" cy="0"/>
          <a:chOff x="0" y="0"/>
          <a:chExt cx="0" cy="0"/>
        </a:xfrm>
      </p:grpSpPr>
      <p:grpSp>
        <p:nvGrpSpPr>
          <p:cNvPr id="90" name="Google Shape;90;p25"/>
          <p:cNvGrpSpPr/>
          <p:nvPr/>
        </p:nvGrpSpPr>
        <p:grpSpPr>
          <a:xfrm>
            <a:off x="-2636211" y="-3531155"/>
            <a:ext cx="14388511" cy="13038464"/>
            <a:chOff x="-2636211" y="-3531155"/>
            <a:chExt cx="14388511" cy="13038464"/>
          </a:xfrm>
        </p:grpSpPr>
        <p:grpSp>
          <p:nvGrpSpPr>
            <p:cNvPr id="91" name="Google Shape;91;p25"/>
            <p:cNvGrpSpPr/>
            <p:nvPr/>
          </p:nvGrpSpPr>
          <p:grpSpPr>
            <a:xfrm>
              <a:off x="-2636211" y="-3531155"/>
              <a:ext cx="14388511" cy="13038464"/>
              <a:chOff x="-2636211" y="-3531155"/>
              <a:chExt cx="14388511" cy="13038464"/>
            </a:xfrm>
          </p:grpSpPr>
          <p:sp>
            <p:nvSpPr>
              <p:cNvPr id="92" name="Google Shape;92;p25"/>
              <p:cNvSpPr/>
              <p:nvPr/>
            </p:nvSpPr>
            <p:spPr>
              <a:xfrm rot="4815600">
                <a:off x="-2108880" y="-1234440"/>
                <a:ext cx="6486840" cy="6538320"/>
              </a:xfrm>
              <a:prstGeom prst="ellipse">
                <a:avLst/>
              </a:prstGeom>
              <a:gradFill>
                <a:gsLst>
                  <a:gs pos="0">
                    <a:srgbClr val="1645D3">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3" name="Google Shape;93;p25"/>
              <p:cNvSpPr/>
              <p:nvPr/>
            </p:nvSpPr>
            <p:spPr>
              <a:xfrm rot="4815600">
                <a:off x="-560880" y="2348280"/>
                <a:ext cx="4917240" cy="4956120"/>
              </a:xfrm>
              <a:prstGeom prst="ellipse">
                <a:avLst/>
              </a:prstGeom>
              <a:gradFill>
                <a:gsLst>
                  <a:gs pos="0">
                    <a:srgbClr val="E0FE68">
                      <a:alpha val="51764"/>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4" name="Google Shape;94;p25"/>
              <p:cNvSpPr/>
              <p:nvPr/>
            </p:nvSpPr>
            <p:spPr>
              <a:xfrm rot="4815600">
                <a:off x="5065560" y="-24336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5" name="Google Shape;95;p25"/>
              <p:cNvSpPr/>
              <p:nvPr/>
            </p:nvSpPr>
            <p:spPr>
              <a:xfrm rot="4815600">
                <a:off x="356040" y="910080"/>
                <a:ext cx="7945560" cy="8008560"/>
              </a:xfrm>
              <a:prstGeom prst="ellipse">
                <a:avLst/>
              </a:prstGeom>
              <a:gradFill>
                <a:gsLst>
                  <a:gs pos="0">
                    <a:srgbClr val="9900FF">
                      <a:alpha val="65882"/>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6" name="Google Shape;96;p25"/>
              <p:cNvSpPr/>
              <p:nvPr/>
            </p:nvSpPr>
            <p:spPr>
              <a:xfrm rot="4815600">
                <a:off x="702000" y="-307296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97" name="Google Shape;97;p25"/>
            <p:cNvSpPr/>
            <p:nvPr/>
          </p:nvSpPr>
          <p:spPr>
            <a:xfrm rot="4815600">
              <a:off x="5034600" y="3132360"/>
              <a:ext cx="4917240" cy="4956120"/>
            </a:xfrm>
            <a:prstGeom prst="ellipse">
              <a:avLst/>
            </a:prstGeom>
            <a:gradFill>
              <a:gsLst>
                <a:gs pos="0">
                  <a:srgbClr val="E0FE68">
                    <a:alpha val="51764"/>
                  </a:srgbClr>
                </a:gs>
                <a:gs pos="51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98" name="Google Shape;98;p25"/>
          <p:cNvSpPr/>
          <p:nvPr/>
        </p:nvSpPr>
        <p:spPr>
          <a:xfrm rot="4815600">
            <a:off x="5406480" y="-3286800"/>
            <a:ext cx="6486840" cy="6538320"/>
          </a:xfrm>
          <a:prstGeom prst="ellipse">
            <a:avLst/>
          </a:prstGeom>
          <a:gradFill>
            <a:gsLst>
              <a:gs pos="0">
                <a:srgbClr val="1645D3">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pic>
        <p:nvPicPr>
          <p:cNvPr id="99" name="Google Shape;99;p25"/>
          <p:cNvPicPr preferRelativeResize="0"/>
          <p:nvPr/>
        </p:nvPicPr>
        <p:blipFill rotWithShape="1">
          <a:blip r:embed="rId2">
            <a:alphaModFix amt="21000"/>
          </a:blip>
          <a:srcRect b="0" l="0" r="0" t="0"/>
          <a:stretch/>
        </p:blipFill>
        <p:spPr>
          <a:xfrm>
            <a:off x="0" y="0"/>
            <a:ext cx="9143640" cy="5143320"/>
          </a:xfrm>
          <a:prstGeom prst="rect">
            <a:avLst/>
          </a:prstGeom>
          <a:noFill/>
          <a:ln>
            <a:noFill/>
          </a:ln>
        </p:spPr>
      </p:pic>
      <p:sp>
        <p:nvSpPr>
          <p:cNvPr id="100" name="Google Shape;100;p25"/>
          <p:cNvSpPr/>
          <p:nvPr/>
        </p:nvSpPr>
        <p:spPr>
          <a:xfrm rot="4815600">
            <a:off x="5381640" y="-2959200"/>
            <a:ext cx="6184080" cy="6233040"/>
          </a:xfrm>
          <a:prstGeom prst="ellipse">
            <a:avLst/>
          </a:prstGeom>
          <a:gradFill>
            <a:gsLst>
              <a:gs pos="0">
                <a:srgbClr val="8AC1DC">
                  <a:alpha val="69803"/>
                </a:srgbClr>
              </a:gs>
              <a:gs pos="63000">
                <a:srgbClr val="00FFFF">
                  <a:alpha val="0"/>
                </a:srgbClr>
              </a:gs>
              <a:gs pos="100000">
                <a:srgbClr val="FF00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1" name="Google Shape;101;p25"/>
          <p:cNvSpPr txBox="1"/>
          <p:nvPr>
            <p:ph type="title"/>
          </p:nvPr>
        </p:nvSpPr>
        <p:spPr>
          <a:xfrm>
            <a:off x="741240" y="2004480"/>
            <a:ext cx="2457360" cy="36072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2" name="Google Shape;102;p25"/>
          <p:cNvSpPr txBox="1"/>
          <p:nvPr>
            <p:ph idx="2" type="title"/>
          </p:nvPr>
        </p:nvSpPr>
        <p:spPr>
          <a:xfrm>
            <a:off x="3343320" y="2004480"/>
            <a:ext cx="2457360" cy="36072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25"/>
          <p:cNvSpPr txBox="1"/>
          <p:nvPr>
            <p:ph idx="3" type="title"/>
          </p:nvPr>
        </p:nvSpPr>
        <p:spPr>
          <a:xfrm>
            <a:off x="5945040" y="2004480"/>
            <a:ext cx="2457360" cy="36072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4" name="Google Shape;104;p25"/>
          <p:cNvSpPr txBox="1"/>
          <p:nvPr>
            <p:ph idx="4" type="title"/>
          </p:nvPr>
        </p:nvSpPr>
        <p:spPr>
          <a:xfrm>
            <a:off x="741240" y="3050640"/>
            <a:ext cx="2457360" cy="57132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5" name="Google Shape;105;p25"/>
          <p:cNvSpPr txBox="1"/>
          <p:nvPr>
            <p:ph idx="5" type="title"/>
          </p:nvPr>
        </p:nvSpPr>
        <p:spPr>
          <a:xfrm>
            <a:off x="3343320" y="3050640"/>
            <a:ext cx="2457360" cy="57132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6" name="Google Shape;106;p25"/>
          <p:cNvSpPr txBox="1"/>
          <p:nvPr>
            <p:ph idx="6" type="title"/>
          </p:nvPr>
        </p:nvSpPr>
        <p:spPr>
          <a:xfrm>
            <a:off x="5945040" y="3050640"/>
            <a:ext cx="2457360" cy="57132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7" name="Google Shape;107;p25"/>
          <p:cNvSpPr txBox="1"/>
          <p:nvPr>
            <p:ph idx="7" type="title"/>
          </p:nvPr>
        </p:nvSpPr>
        <p:spPr>
          <a:xfrm>
            <a:off x="720000" y="457200"/>
            <a:ext cx="7703640" cy="57132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node.js" TargetMode="External"/><Relationship Id="rId4" Type="http://schemas.openxmlformats.org/officeDocument/2006/relationships/hyperlink" Target="http://express.js" TargetMode="External"/><Relationship Id="rId5" Type="http://schemas.openxmlformats.org/officeDocument/2006/relationships/hyperlink" Target="http://passport.j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
          <p:cNvSpPr txBox="1"/>
          <p:nvPr>
            <p:ph idx="1" type="subTitle"/>
          </p:nvPr>
        </p:nvSpPr>
        <p:spPr>
          <a:xfrm>
            <a:off x="0" y="3266550"/>
            <a:ext cx="9144000" cy="1612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0" i="0" lang="en-US" sz="1300" u="none" cap="none" strike="noStrike">
                <a:solidFill>
                  <a:srgbClr val="F9F9F9"/>
                </a:solidFill>
                <a:latin typeface="DM Sans Light"/>
                <a:ea typeface="DM Sans Light"/>
                <a:cs typeface="DM Sans Light"/>
                <a:sym typeface="DM Sans Light"/>
              </a:rPr>
              <a:t>Course: ENSE 281 – Winter 2026</a:t>
            </a:r>
            <a:br>
              <a:rPr b="0" i="0" lang="en-US" sz="1300" u="none" cap="none" strike="noStrike">
                <a:solidFill>
                  <a:srgbClr val="F9F9F9"/>
                </a:solidFill>
                <a:latin typeface="DM Sans Light"/>
                <a:ea typeface="DM Sans Light"/>
                <a:cs typeface="DM Sans Light"/>
                <a:sym typeface="DM Sans Light"/>
              </a:rPr>
            </a:br>
            <a:endParaRPr b="0" i="0" sz="1300" u="none" cap="none" strike="noStrike">
              <a:solidFill>
                <a:srgbClr val="F9F9F9"/>
              </a:solidFill>
              <a:latin typeface="DM Sans Light"/>
              <a:ea typeface="DM Sans Light"/>
              <a:cs typeface="DM Sans Light"/>
              <a:sym typeface="DM Sans Light"/>
            </a:endParaRPr>
          </a:p>
          <a:p>
            <a:pPr indent="0" lvl="0" marL="0" marR="0" rtl="0" algn="ctr">
              <a:lnSpc>
                <a:spcPct val="115000"/>
              </a:lnSpc>
              <a:spcBef>
                <a:spcPts val="0"/>
              </a:spcBef>
              <a:spcAft>
                <a:spcPts val="0"/>
              </a:spcAft>
              <a:buClr>
                <a:srgbClr val="000000"/>
              </a:buClr>
              <a:buSzPts val="1400"/>
              <a:buFont typeface="Arial"/>
              <a:buNone/>
            </a:pPr>
            <a:r>
              <a:rPr b="0" i="0" lang="en-US" sz="1300" u="none" cap="none" strike="noStrike">
                <a:solidFill>
                  <a:srgbClr val="F9F9F9"/>
                </a:solidFill>
                <a:latin typeface="DM Sans Light"/>
                <a:ea typeface="DM Sans Light"/>
                <a:cs typeface="DM Sans Light"/>
                <a:sym typeface="DM Sans Light"/>
              </a:rPr>
              <a:t>Instructor: Tim Maciag</a:t>
            </a:r>
            <a:br>
              <a:rPr b="0" i="0" lang="en-US" sz="1300" u="none" cap="none" strike="noStrike">
                <a:solidFill>
                  <a:srgbClr val="F9F9F9"/>
                </a:solidFill>
                <a:latin typeface="DM Sans Light"/>
                <a:ea typeface="DM Sans Light"/>
                <a:cs typeface="DM Sans Light"/>
                <a:sym typeface="DM Sans Light"/>
              </a:rPr>
            </a:br>
            <a:endParaRPr b="0" i="0" sz="1300" u="none" cap="none" strike="noStrike">
              <a:solidFill>
                <a:srgbClr val="F9F9F9"/>
              </a:solidFill>
              <a:latin typeface="DM Sans Light"/>
              <a:ea typeface="DM Sans Light"/>
              <a:cs typeface="DM Sans Light"/>
              <a:sym typeface="DM Sans Light"/>
            </a:endParaRPr>
          </a:p>
          <a:p>
            <a:pPr indent="0" lvl="0" marL="0" marR="0" rtl="0" algn="ctr">
              <a:lnSpc>
                <a:spcPct val="115000"/>
              </a:lnSpc>
              <a:spcBef>
                <a:spcPts val="0"/>
              </a:spcBef>
              <a:spcAft>
                <a:spcPts val="0"/>
              </a:spcAft>
              <a:buClr>
                <a:srgbClr val="000000"/>
              </a:buClr>
              <a:buSzPts val="1400"/>
              <a:buFont typeface="Arial"/>
              <a:buNone/>
            </a:pPr>
            <a:r>
              <a:rPr b="0" i="0" lang="en-US" sz="1300" u="none" cap="none" strike="noStrike">
                <a:solidFill>
                  <a:srgbClr val="F9F9F9"/>
                </a:solidFill>
                <a:latin typeface="DM Sans Light"/>
                <a:ea typeface="DM Sans Light"/>
                <a:cs typeface="DM Sans Light"/>
                <a:sym typeface="DM Sans Light"/>
              </a:rPr>
              <a:t>Members: Robert Calinescu, Harleen Kaur, Abraham Omoregie, Peyton Bowen, Luka Dundjerovic </a:t>
            </a:r>
            <a:endParaRPr b="0" i="0" sz="1900" u="none" cap="none" strike="noStrike">
              <a:solidFill>
                <a:schemeClr val="dk1"/>
              </a:solidFill>
              <a:latin typeface="arial"/>
              <a:ea typeface="arial"/>
              <a:cs typeface="arial"/>
              <a:sym typeface="arial"/>
            </a:endParaRPr>
          </a:p>
        </p:txBody>
      </p:sp>
      <p:sp>
        <p:nvSpPr>
          <p:cNvPr id="113" name="Google Shape;113;p1"/>
          <p:cNvSpPr txBox="1"/>
          <p:nvPr>
            <p:ph type="title"/>
          </p:nvPr>
        </p:nvSpPr>
        <p:spPr>
          <a:xfrm>
            <a:off x="40700" y="1100125"/>
            <a:ext cx="9103200" cy="15618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4400"/>
              <a:buFont typeface="Krona One"/>
              <a:buNone/>
            </a:pPr>
            <a:r>
              <a:rPr lang="en-US" sz="4400">
                <a:solidFill>
                  <a:schemeClr val="dk1"/>
                </a:solidFill>
                <a:latin typeface="Krona One"/>
                <a:ea typeface="Krona One"/>
                <a:cs typeface="Krona One"/>
                <a:sym typeface="Krona One"/>
              </a:rPr>
              <a:t>UR Involved – Scrum Report Out</a:t>
            </a:r>
            <a:endParaRPr sz="4400" u="none" strike="noStrike">
              <a:solidFill>
                <a:schemeClr val="dk1"/>
              </a:solidFill>
              <a:latin typeface="Krona One"/>
              <a:ea typeface="Krona One"/>
              <a:cs typeface="Krona One"/>
              <a:sym typeface="Krona On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c4cbb3fbfa_3_0"/>
          <p:cNvSpPr txBox="1"/>
          <p:nvPr>
            <p:ph type="title"/>
          </p:nvPr>
        </p:nvSpPr>
        <p:spPr>
          <a:xfrm>
            <a:off x="0" y="202850"/>
            <a:ext cx="9144000" cy="80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US" sz="2500">
                <a:solidFill>
                  <a:srgbClr val="FFFFFF"/>
                </a:solidFill>
                <a:latin typeface="Krona One"/>
                <a:ea typeface="Krona One"/>
                <a:cs typeface="Krona One"/>
                <a:sym typeface="Krona One"/>
              </a:rPr>
              <a:t>Who does UR Involved impact?</a:t>
            </a:r>
            <a:endParaRPr sz="2500">
              <a:solidFill>
                <a:srgbClr val="FFFFFF"/>
              </a:solidFill>
              <a:latin typeface="Krona One"/>
              <a:ea typeface="Krona One"/>
              <a:cs typeface="Krona One"/>
              <a:sym typeface="Krona One"/>
            </a:endParaRPr>
          </a:p>
        </p:txBody>
      </p:sp>
      <p:sp>
        <p:nvSpPr>
          <p:cNvPr id="119" name="Google Shape;119;g3c4cbb3fbfa_3_0"/>
          <p:cNvSpPr txBox="1"/>
          <p:nvPr>
            <p:ph idx="1" type="body"/>
          </p:nvPr>
        </p:nvSpPr>
        <p:spPr>
          <a:xfrm>
            <a:off x="457350" y="1692080"/>
            <a:ext cx="8229300" cy="2982900"/>
          </a:xfrm>
          <a:prstGeom prst="rect">
            <a:avLst/>
          </a:prstGeom>
        </p:spPr>
        <p:txBody>
          <a:bodyPr anchorCtr="0" anchor="t" bIns="0" lIns="0" spcFirstLastPara="1" rIns="0" wrap="square" tIns="0">
            <a:normAutofit/>
          </a:bodyPr>
          <a:lstStyle/>
          <a:p>
            <a:pPr indent="0" lvl="0" marL="0" rtl="0" algn="l">
              <a:lnSpc>
                <a:spcPct val="150000"/>
              </a:lnSpc>
              <a:spcBef>
                <a:spcPts val="0"/>
              </a:spcBef>
              <a:spcAft>
                <a:spcPts val="0"/>
              </a:spcAft>
              <a:buNone/>
            </a:pPr>
            <a:r>
              <a:rPr lang="en-US">
                <a:solidFill>
                  <a:srgbClr val="FFFFFF"/>
                </a:solidFill>
              </a:rPr>
              <a:t>Project Sponsor: Dr. Maciag</a:t>
            </a:r>
            <a:endParaRPr>
              <a:solidFill>
                <a:srgbClr val="FFFFFF"/>
              </a:solidFill>
            </a:endParaRPr>
          </a:p>
          <a:p>
            <a:pPr indent="0" lvl="0" marL="0" rtl="0" algn="l">
              <a:lnSpc>
                <a:spcPct val="150000"/>
              </a:lnSpc>
              <a:spcBef>
                <a:spcPts val="0"/>
              </a:spcBef>
              <a:spcAft>
                <a:spcPts val="0"/>
              </a:spcAft>
              <a:buNone/>
            </a:pPr>
            <a:r>
              <a:t/>
            </a:r>
            <a:endParaRPr>
              <a:solidFill>
                <a:srgbClr val="FFFFFF"/>
              </a:solidFill>
            </a:endParaRPr>
          </a:p>
          <a:p>
            <a:pPr indent="0" lvl="0" marL="0" rtl="0" algn="l">
              <a:lnSpc>
                <a:spcPct val="150000"/>
              </a:lnSpc>
              <a:spcBef>
                <a:spcPts val="0"/>
              </a:spcBef>
              <a:spcAft>
                <a:spcPts val="0"/>
              </a:spcAft>
              <a:buNone/>
            </a:pPr>
            <a:r>
              <a:rPr lang="en-US">
                <a:solidFill>
                  <a:srgbClr val="FFFFFF"/>
                </a:solidFill>
              </a:rPr>
              <a:t>Benefactors:</a:t>
            </a:r>
            <a:br>
              <a:rPr lang="en-US">
                <a:solidFill>
                  <a:srgbClr val="FFFFFF"/>
                </a:solidFill>
              </a:rPr>
            </a:br>
            <a:r>
              <a:rPr lang="en-US">
                <a:solidFill>
                  <a:srgbClr val="FFFFFF"/>
                </a:solidFill>
              </a:rPr>
              <a:t>-University of Regina</a:t>
            </a:r>
            <a:br>
              <a:rPr lang="en-US">
                <a:solidFill>
                  <a:srgbClr val="FFFFFF"/>
                </a:solidFill>
              </a:rPr>
            </a:br>
            <a:r>
              <a:rPr lang="en-US">
                <a:solidFill>
                  <a:srgbClr val="FFFFFF"/>
                </a:solidFill>
              </a:rPr>
              <a:t>-U of R Club Organizers</a:t>
            </a:r>
            <a:br>
              <a:rPr lang="en-US">
                <a:solidFill>
                  <a:srgbClr val="FFFFFF"/>
                </a:solidFill>
              </a:rPr>
            </a:br>
            <a:r>
              <a:rPr lang="en-US">
                <a:solidFill>
                  <a:srgbClr val="FFFFFF"/>
                </a:solidFill>
              </a:rPr>
              <a:t>-U of R Student Body</a:t>
            </a:r>
            <a:endParaRPr>
              <a:solidFill>
                <a:srgbClr val="FFFFFF"/>
              </a:solidFill>
            </a:endParaRPr>
          </a:p>
          <a:p>
            <a:pPr indent="0" lvl="0" marL="0" rtl="0" algn="l">
              <a:spcBef>
                <a:spcPts val="0"/>
              </a:spcBef>
              <a:spcAft>
                <a:spcPts val="0"/>
              </a:spcAft>
              <a:buNone/>
            </a:pPr>
            <a:r>
              <a:t/>
            </a:r>
            <a:endParaRPr>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c502f1063f_0_124"/>
          <p:cNvSpPr txBox="1"/>
          <p:nvPr>
            <p:ph type="title"/>
          </p:nvPr>
        </p:nvSpPr>
        <p:spPr>
          <a:xfrm>
            <a:off x="0" y="109525"/>
            <a:ext cx="9144000" cy="80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US" sz="2500">
                <a:solidFill>
                  <a:srgbClr val="FFFFFF"/>
                </a:solidFill>
                <a:latin typeface="Krona One"/>
                <a:ea typeface="Krona One"/>
                <a:cs typeface="Krona One"/>
                <a:sym typeface="Krona One"/>
              </a:rPr>
              <a:t>Project Roles </a:t>
            </a:r>
            <a:endParaRPr sz="2500">
              <a:solidFill>
                <a:srgbClr val="FFFFFF"/>
              </a:solidFill>
              <a:latin typeface="Krona One"/>
              <a:ea typeface="Krona One"/>
              <a:cs typeface="Krona One"/>
              <a:sym typeface="Krona One"/>
            </a:endParaRPr>
          </a:p>
        </p:txBody>
      </p:sp>
      <p:graphicFrame>
        <p:nvGraphicFramePr>
          <p:cNvPr id="125" name="Google Shape;125;g3c502f1063f_0_124"/>
          <p:cNvGraphicFramePr/>
          <p:nvPr/>
        </p:nvGraphicFramePr>
        <p:xfrm>
          <a:off x="952500" y="1912325"/>
          <a:ext cx="3000000" cy="3000000"/>
        </p:xfrm>
        <a:graphic>
          <a:graphicData uri="http://schemas.openxmlformats.org/drawingml/2006/table">
            <a:tbl>
              <a:tblPr>
                <a:noFill/>
                <a:tableStyleId>{CBA0A81A-D5BA-4B6C-B7B5-3893A23F0F7D}</a:tableStyleId>
              </a:tblPr>
              <a:tblGrid>
                <a:gridCol w="3619500"/>
                <a:gridCol w="3619500"/>
              </a:tblGrid>
              <a:tr h="381000">
                <a:tc>
                  <a:txBody>
                    <a:bodyPr/>
                    <a:lstStyle/>
                    <a:p>
                      <a:pPr indent="0" lvl="0" marL="0" rtl="0" algn="l">
                        <a:spcBef>
                          <a:spcPts val="0"/>
                        </a:spcBef>
                        <a:spcAft>
                          <a:spcPts val="0"/>
                        </a:spcAft>
                        <a:buNone/>
                      </a:pPr>
                      <a:r>
                        <a:rPr lang="en-US">
                          <a:solidFill>
                            <a:schemeClr val="dk1"/>
                          </a:solidFill>
                        </a:rPr>
                        <a:t>Robert</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solidFill>
                            <a:schemeClr val="dk1"/>
                          </a:solidFill>
                        </a:rPr>
                        <a:t>Project Lead / Database</a:t>
                      </a:r>
                      <a:endParaRPr>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en-US">
                          <a:solidFill>
                            <a:schemeClr val="dk1"/>
                          </a:solidFill>
                        </a:rPr>
                        <a:t>Abraham</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solidFill>
                            <a:schemeClr val="dk1"/>
                          </a:solidFill>
                        </a:rPr>
                        <a:t>Frontend / UI / UX</a:t>
                      </a:r>
                      <a:endParaRPr>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en-US">
                          <a:solidFill>
                            <a:schemeClr val="dk1"/>
                          </a:solidFill>
                        </a:rPr>
                        <a:t>Harleen</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solidFill>
                            <a:schemeClr val="dk1"/>
                          </a:solidFill>
                        </a:rPr>
                        <a:t>Frontend / UI / UX</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en-US">
                          <a:solidFill>
                            <a:schemeClr val="dk1"/>
                          </a:solidFill>
                        </a:rPr>
                        <a:t>Peyton</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solidFill>
                            <a:schemeClr val="dk1"/>
                          </a:solidFill>
                        </a:rPr>
                        <a:t>Backend Developer</a:t>
                      </a:r>
                      <a:endParaRPr>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en-US">
                          <a:solidFill>
                            <a:schemeClr val="dk1"/>
                          </a:solidFill>
                        </a:rPr>
                        <a:t>Luka</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solidFill>
                            <a:schemeClr val="dk1"/>
                          </a:solidFill>
                        </a:rPr>
                        <a:t>Backend Developer</a:t>
                      </a:r>
                      <a:endParaRPr>
                        <a:solidFill>
                          <a:schemeClr val="dk1"/>
                        </a:solidFill>
                      </a:endParaRPr>
                    </a:p>
                  </a:txBody>
                  <a:tcPr marT="91425" marB="91425" marR="91425" marL="91425"/>
                </a:tc>
              </a:tr>
            </a:tbl>
          </a:graphicData>
        </a:graphic>
      </p:graphicFrame>
      <p:sp>
        <p:nvSpPr>
          <p:cNvPr id="126" name="Google Shape;126;g3c502f1063f_0_124"/>
          <p:cNvSpPr txBox="1"/>
          <p:nvPr/>
        </p:nvSpPr>
        <p:spPr>
          <a:xfrm>
            <a:off x="2198100" y="1442325"/>
            <a:ext cx="1593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rPr>
              <a:t>Member</a:t>
            </a:r>
            <a:endParaRPr b="1" sz="1800">
              <a:solidFill>
                <a:schemeClr val="dk1"/>
              </a:solidFill>
            </a:endParaRPr>
          </a:p>
          <a:p>
            <a:pPr indent="0" lvl="0" marL="0" rtl="0" algn="l">
              <a:spcBef>
                <a:spcPts val="0"/>
              </a:spcBef>
              <a:spcAft>
                <a:spcPts val="0"/>
              </a:spcAft>
              <a:buNone/>
            </a:pPr>
            <a:r>
              <a:t/>
            </a:r>
            <a:endParaRPr/>
          </a:p>
        </p:txBody>
      </p:sp>
      <p:sp>
        <p:nvSpPr>
          <p:cNvPr id="127" name="Google Shape;127;g3c502f1063f_0_124"/>
          <p:cNvSpPr txBox="1"/>
          <p:nvPr/>
        </p:nvSpPr>
        <p:spPr>
          <a:xfrm>
            <a:off x="5907175" y="1442325"/>
            <a:ext cx="1593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rPr>
              <a:t>Role</a:t>
            </a:r>
            <a:endParaRPr b="1" sz="1800">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ccd56b5f7c_2_50"/>
          <p:cNvSpPr txBox="1"/>
          <p:nvPr>
            <p:ph type="title"/>
          </p:nvPr>
        </p:nvSpPr>
        <p:spPr>
          <a:xfrm>
            <a:off x="0" y="109525"/>
            <a:ext cx="9144000" cy="80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US" sz="2500">
                <a:solidFill>
                  <a:srgbClr val="FFFFFF"/>
                </a:solidFill>
                <a:latin typeface="Krona One"/>
                <a:ea typeface="Krona One"/>
                <a:cs typeface="Krona One"/>
                <a:sym typeface="Krona One"/>
              </a:rPr>
              <a:t>Requirements Overview</a:t>
            </a:r>
            <a:endParaRPr sz="2500">
              <a:solidFill>
                <a:srgbClr val="FFFFFF"/>
              </a:solidFill>
              <a:latin typeface="Krona One"/>
              <a:ea typeface="Krona One"/>
              <a:cs typeface="Krona One"/>
              <a:sym typeface="Krona One"/>
            </a:endParaRPr>
          </a:p>
        </p:txBody>
      </p:sp>
      <p:sp>
        <p:nvSpPr>
          <p:cNvPr id="133" name="Google Shape;133;g3ccd56b5f7c_2_50"/>
          <p:cNvSpPr txBox="1"/>
          <p:nvPr>
            <p:ph idx="1" type="body"/>
          </p:nvPr>
        </p:nvSpPr>
        <p:spPr>
          <a:xfrm>
            <a:off x="353650" y="1049150"/>
            <a:ext cx="7330500" cy="1419000"/>
          </a:xfrm>
          <a:prstGeom prst="rect">
            <a:avLst/>
          </a:prstGeom>
        </p:spPr>
        <p:txBody>
          <a:bodyPr anchorCtr="0" anchor="t" bIns="0" lIns="0" spcFirstLastPara="1" rIns="0" wrap="square" tIns="0">
            <a:normAutofit/>
          </a:bodyPr>
          <a:lstStyle/>
          <a:p>
            <a:pPr indent="-317500" lvl="0" marL="457200" rtl="0" algn="l">
              <a:spcBef>
                <a:spcPts val="0"/>
              </a:spcBef>
              <a:spcAft>
                <a:spcPts val="0"/>
              </a:spcAft>
              <a:buClr>
                <a:srgbClr val="FFFFFF"/>
              </a:buClr>
              <a:buSzPts val="1400"/>
              <a:buChar char="●"/>
            </a:pPr>
            <a:r>
              <a:rPr lang="en-US">
                <a:solidFill>
                  <a:srgbClr val="FFFFFF"/>
                </a:solidFill>
              </a:rPr>
              <a:t>User Accounts</a:t>
            </a:r>
            <a:endParaRPr>
              <a:solidFill>
                <a:srgbClr val="FFFFFF"/>
              </a:solidFill>
            </a:endParaRPr>
          </a:p>
          <a:p>
            <a:pPr indent="-317500" lvl="1" marL="914400" rtl="0" algn="l">
              <a:spcBef>
                <a:spcPts val="0"/>
              </a:spcBef>
              <a:spcAft>
                <a:spcPts val="0"/>
              </a:spcAft>
              <a:buClr>
                <a:srgbClr val="FFFFFF"/>
              </a:buClr>
              <a:buSzPts val="1400"/>
              <a:buChar char="○"/>
            </a:pPr>
            <a:r>
              <a:rPr lang="en-US">
                <a:solidFill>
                  <a:srgbClr val="FFFFFF"/>
                </a:solidFill>
              </a:rPr>
              <a:t>Register/Login with email and password</a:t>
            </a:r>
            <a:endParaRPr>
              <a:solidFill>
                <a:srgbClr val="FFFFFF"/>
              </a:solidFill>
            </a:endParaRPr>
          </a:p>
          <a:p>
            <a:pPr indent="-317500" lvl="1" marL="914400" rtl="0" algn="l">
              <a:spcBef>
                <a:spcPts val="0"/>
              </a:spcBef>
              <a:spcAft>
                <a:spcPts val="0"/>
              </a:spcAft>
              <a:buClr>
                <a:srgbClr val="FFFFFF"/>
              </a:buClr>
              <a:buSzPts val="1400"/>
              <a:buChar char="○"/>
            </a:pPr>
            <a:r>
              <a:rPr lang="en-US">
                <a:solidFill>
                  <a:srgbClr val="FFFFFF"/>
                </a:solidFill>
              </a:rPr>
              <a:t>Secure session management</a:t>
            </a:r>
            <a:endParaRPr>
              <a:solidFill>
                <a:srgbClr val="FFFFFF"/>
              </a:solidFill>
            </a:endParaRPr>
          </a:p>
          <a:p>
            <a:pPr indent="-317500" lvl="1" marL="914400" rtl="0" algn="l">
              <a:spcBef>
                <a:spcPts val="0"/>
              </a:spcBef>
              <a:spcAft>
                <a:spcPts val="0"/>
              </a:spcAft>
              <a:buClr>
                <a:srgbClr val="FFFFFF"/>
              </a:buClr>
              <a:buSzPts val="1400"/>
              <a:buChar char="○"/>
            </a:pPr>
            <a:r>
              <a:rPr lang="en-US">
                <a:solidFill>
                  <a:srgbClr val="FFFFFF"/>
                </a:solidFill>
              </a:rPr>
              <a:t>Default student role</a:t>
            </a:r>
            <a:endParaRPr>
              <a:solidFill>
                <a:srgbClr val="FFFFFF"/>
              </a:solidFill>
            </a:endParaRPr>
          </a:p>
          <a:p>
            <a:pPr indent="0" lvl="0" marL="0" rtl="0" algn="l">
              <a:spcBef>
                <a:spcPts val="0"/>
              </a:spcBef>
              <a:spcAft>
                <a:spcPts val="0"/>
              </a:spcAft>
              <a:buNone/>
            </a:pPr>
            <a:r>
              <a:t/>
            </a:r>
            <a:endParaRPr>
              <a:solidFill>
                <a:srgbClr val="FFFFFF"/>
              </a:solidFill>
            </a:endParaRPr>
          </a:p>
        </p:txBody>
      </p:sp>
      <p:sp>
        <p:nvSpPr>
          <p:cNvPr id="134" name="Google Shape;134;g3ccd56b5f7c_2_50"/>
          <p:cNvSpPr txBox="1"/>
          <p:nvPr/>
        </p:nvSpPr>
        <p:spPr>
          <a:xfrm>
            <a:off x="374800" y="2195275"/>
            <a:ext cx="7054800" cy="15084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Char char="●"/>
            </a:pPr>
            <a:r>
              <a:rPr lang="en-US" sz="1800">
                <a:solidFill>
                  <a:schemeClr val="dk1"/>
                </a:solidFill>
              </a:rPr>
              <a:t>Club Discovery</a:t>
            </a:r>
            <a:endParaRPr sz="1800">
              <a:solidFill>
                <a:schemeClr val="dk1"/>
              </a:solidFill>
            </a:endParaRPr>
          </a:p>
          <a:p>
            <a:pPr indent="-317500" lvl="1" marL="914400" rtl="0" algn="l">
              <a:spcBef>
                <a:spcPts val="0"/>
              </a:spcBef>
              <a:spcAft>
                <a:spcPts val="0"/>
              </a:spcAft>
              <a:buClr>
                <a:schemeClr val="dk1"/>
              </a:buClr>
              <a:buSzPts val="1400"/>
              <a:buChar char="○"/>
            </a:pPr>
            <a:r>
              <a:rPr lang="en-US" sz="1800">
                <a:solidFill>
                  <a:schemeClr val="dk1"/>
                </a:solidFill>
              </a:rPr>
              <a:t>Browse clubs on homepage</a:t>
            </a:r>
            <a:endParaRPr sz="1800">
              <a:solidFill>
                <a:schemeClr val="dk1"/>
              </a:solidFill>
            </a:endParaRPr>
          </a:p>
          <a:p>
            <a:pPr indent="-317500" lvl="1" marL="914400" rtl="0" algn="l">
              <a:spcBef>
                <a:spcPts val="0"/>
              </a:spcBef>
              <a:spcAft>
                <a:spcPts val="0"/>
              </a:spcAft>
              <a:buClr>
                <a:schemeClr val="dk1"/>
              </a:buClr>
              <a:buSzPts val="1400"/>
              <a:buChar char="○"/>
            </a:pPr>
            <a:r>
              <a:rPr lang="en-US" sz="1800">
                <a:solidFill>
                  <a:schemeClr val="dk1"/>
                </a:solidFill>
              </a:rPr>
              <a:t>Search and filter clubs</a:t>
            </a:r>
            <a:endParaRPr sz="1800">
              <a:solidFill>
                <a:schemeClr val="dk1"/>
              </a:solidFill>
            </a:endParaRPr>
          </a:p>
          <a:p>
            <a:pPr indent="-317500" lvl="1" marL="914400" rtl="0" algn="l">
              <a:spcBef>
                <a:spcPts val="0"/>
              </a:spcBef>
              <a:spcAft>
                <a:spcPts val="0"/>
              </a:spcAft>
              <a:buClr>
                <a:schemeClr val="dk1"/>
              </a:buClr>
              <a:buSzPts val="1400"/>
              <a:buChar char="○"/>
            </a:pPr>
            <a:r>
              <a:rPr lang="en-US" sz="1800">
                <a:solidFill>
                  <a:schemeClr val="dk1"/>
                </a:solidFill>
              </a:rPr>
              <a:t>View detailed club pages with information and events</a:t>
            </a:r>
            <a:endParaRPr sz="1800">
              <a:solidFill>
                <a:schemeClr val="dk1"/>
              </a:solidFill>
            </a:endParaRPr>
          </a:p>
          <a:p>
            <a:pPr indent="0" lvl="0" marL="457200" rtl="0" algn="l">
              <a:spcBef>
                <a:spcPts val="0"/>
              </a:spcBef>
              <a:spcAft>
                <a:spcPts val="0"/>
              </a:spcAft>
              <a:buNone/>
            </a:pPr>
            <a:r>
              <a:t/>
            </a:r>
            <a:endParaRPr/>
          </a:p>
        </p:txBody>
      </p:sp>
      <p:sp>
        <p:nvSpPr>
          <p:cNvPr id="135" name="Google Shape;135;g3ccd56b5f7c_2_50"/>
          <p:cNvSpPr txBox="1"/>
          <p:nvPr/>
        </p:nvSpPr>
        <p:spPr>
          <a:xfrm>
            <a:off x="353650" y="3460400"/>
            <a:ext cx="7097100" cy="1293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Char char="●"/>
            </a:pPr>
            <a:r>
              <a:rPr lang="en-US" sz="1800">
                <a:solidFill>
                  <a:schemeClr val="dk1"/>
                </a:solidFill>
              </a:rPr>
              <a:t>Club Interaction</a:t>
            </a:r>
            <a:endParaRPr sz="1800">
              <a:solidFill>
                <a:schemeClr val="dk1"/>
              </a:solidFill>
            </a:endParaRPr>
          </a:p>
          <a:p>
            <a:pPr indent="-317500" lvl="1" marL="914400" rtl="0" algn="l">
              <a:spcBef>
                <a:spcPts val="0"/>
              </a:spcBef>
              <a:spcAft>
                <a:spcPts val="0"/>
              </a:spcAft>
              <a:buClr>
                <a:schemeClr val="dk1"/>
              </a:buClr>
              <a:buSzPts val="1400"/>
              <a:buChar char="○"/>
            </a:pPr>
            <a:r>
              <a:rPr lang="en-US" sz="1800">
                <a:solidFill>
                  <a:schemeClr val="dk1"/>
                </a:solidFill>
              </a:rPr>
              <a:t>Request to join clubs</a:t>
            </a:r>
            <a:endParaRPr sz="1800">
              <a:solidFill>
                <a:schemeClr val="dk1"/>
              </a:solidFill>
            </a:endParaRPr>
          </a:p>
          <a:p>
            <a:pPr indent="-317500" lvl="1" marL="914400" rtl="0" algn="l">
              <a:spcBef>
                <a:spcPts val="0"/>
              </a:spcBef>
              <a:spcAft>
                <a:spcPts val="0"/>
              </a:spcAft>
              <a:buClr>
                <a:schemeClr val="dk1"/>
              </a:buClr>
              <a:buSzPts val="1400"/>
              <a:buChar char="○"/>
            </a:pPr>
            <a:r>
              <a:rPr lang="en-US" sz="1800">
                <a:solidFill>
                  <a:schemeClr val="dk1"/>
                </a:solidFill>
              </a:rPr>
              <a:t>View membership request status</a:t>
            </a:r>
            <a:endParaRPr sz="1800">
              <a:solidFill>
                <a:schemeClr val="dk1"/>
              </a:solidFill>
            </a:endParaRPr>
          </a:p>
          <a:p>
            <a:pPr indent="-317500" lvl="1" marL="914400" rtl="0" algn="l">
              <a:spcBef>
                <a:spcPts val="0"/>
              </a:spcBef>
              <a:spcAft>
                <a:spcPts val="0"/>
              </a:spcAft>
              <a:buClr>
                <a:schemeClr val="dk1"/>
              </a:buClr>
              <a:buSzPts val="1400"/>
              <a:buChar char="○"/>
            </a:pPr>
            <a:r>
              <a:rPr lang="en-US" sz="1800">
                <a:solidFill>
                  <a:schemeClr val="dk1"/>
                </a:solidFill>
              </a:rPr>
              <a:t>V</a:t>
            </a:r>
            <a:r>
              <a:rPr lang="en-US" sz="1800">
                <a:solidFill>
                  <a:schemeClr val="dk1"/>
                </a:solidFill>
              </a:rPr>
              <a:t>iew club events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ccd56b5f7c_2_55"/>
          <p:cNvSpPr txBox="1"/>
          <p:nvPr>
            <p:ph type="title"/>
          </p:nvPr>
        </p:nvSpPr>
        <p:spPr>
          <a:xfrm>
            <a:off x="0" y="109525"/>
            <a:ext cx="9144000" cy="80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US" sz="2500">
                <a:solidFill>
                  <a:srgbClr val="FFFFFF"/>
                </a:solidFill>
                <a:latin typeface="Krona One"/>
                <a:ea typeface="Krona One"/>
                <a:cs typeface="Krona One"/>
                <a:sym typeface="Krona One"/>
              </a:rPr>
              <a:t>Requirements Overview</a:t>
            </a:r>
            <a:endParaRPr sz="2500">
              <a:solidFill>
                <a:srgbClr val="FFFFFF"/>
              </a:solidFill>
              <a:latin typeface="Krona One"/>
              <a:ea typeface="Krona One"/>
              <a:cs typeface="Krona One"/>
              <a:sym typeface="Krona One"/>
            </a:endParaRPr>
          </a:p>
        </p:txBody>
      </p:sp>
      <p:sp>
        <p:nvSpPr>
          <p:cNvPr id="141" name="Google Shape;141;g3ccd56b5f7c_2_55"/>
          <p:cNvSpPr txBox="1"/>
          <p:nvPr>
            <p:ph idx="1" type="body"/>
          </p:nvPr>
        </p:nvSpPr>
        <p:spPr>
          <a:xfrm>
            <a:off x="353650" y="1049150"/>
            <a:ext cx="7574100" cy="1372200"/>
          </a:xfrm>
          <a:prstGeom prst="rect">
            <a:avLst/>
          </a:prstGeom>
        </p:spPr>
        <p:txBody>
          <a:bodyPr anchorCtr="0" anchor="t" bIns="0" lIns="0" spcFirstLastPara="1" rIns="0" wrap="square" tIns="0">
            <a:normAutofit/>
          </a:bodyPr>
          <a:lstStyle/>
          <a:p>
            <a:pPr indent="-317500" lvl="0" marL="457200" rtl="0" algn="l">
              <a:spcBef>
                <a:spcPts val="0"/>
              </a:spcBef>
              <a:spcAft>
                <a:spcPts val="0"/>
              </a:spcAft>
              <a:buClr>
                <a:srgbClr val="FFFFFF"/>
              </a:buClr>
              <a:buSzPts val="1400"/>
              <a:buChar char="●"/>
            </a:pPr>
            <a:r>
              <a:rPr lang="en-US">
                <a:solidFill>
                  <a:srgbClr val="FFFFFF"/>
                </a:solidFill>
              </a:rPr>
              <a:t>Club Creation &amp; Administration</a:t>
            </a:r>
            <a:endParaRPr>
              <a:solidFill>
                <a:srgbClr val="FFFFFF"/>
              </a:solidFill>
            </a:endParaRPr>
          </a:p>
          <a:p>
            <a:pPr indent="-317500" lvl="1" marL="914400" rtl="0" algn="l">
              <a:spcBef>
                <a:spcPts val="0"/>
              </a:spcBef>
              <a:spcAft>
                <a:spcPts val="0"/>
              </a:spcAft>
              <a:buClr>
                <a:srgbClr val="FFFFFF"/>
              </a:buClr>
              <a:buSzPts val="1400"/>
              <a:buChar char="○"/>
            </a:pPr>
            <a:r>
              <a:rPr lang="en-US">
                <a:solidFill>
                  <a:srgbClr val="FFFFFF"/>
                </a:solidFill>
              </a:rPr>
              <a:t>Submit club proposals</a:t>
            </a:r>
            <a:endParaRPr>
              <a:solidFill>
                <a:srgbClr val="FFFFFF"/>
              </a:solidFill>
            </a:endParaRPr>
          </a:p>
          <a:p>
            <a:pPr indent="-317500" lvl="1" marL="914400" rtl="0" algn="l">
              <a:spcBef>
                <a:spcPts val="0"/>
              </a:spcBef>
              <a:spcAft>
                <a:spcPts val="0"/>
              </a:spcAft>
              <a:buClr>
                <a:srgbClr val="FFFFFF"/>
              </a:buClr>
              <a:buSzPts val="1400"/>
              <a:buChar char="○"/>
            </a:pPr>
            <a:r>
              <a:rPr lang="en-US">
                <a:solidFill>
                  <a:srgbClr val="FFFFFF"/>
                </a:solidFill>
              </a:rPr>
              <a:t>Admin approve/reject clubs</a:t>
            </a:r>
            <a:endParaRPr>
              <a:solidFill>
                <a:srgbClr val="FFFFFF"/>
              </a:solidFill>
            </a:endParaRPr>
          </a:p>
          <a:p>
            <a:pPr indent="-317500" lvl="1" marL="914400" rtl="0" algn="l">
              <a:spcBef>
                <a:spcPts val="0"/>
              </a:spcBef>
              <a:spcAft>
                <a:spcPts val="0"/>
              </a:spcAft>
              <a:buClr>
                <a:srgbClr val="FFFFFF"/>
              </a:buClr>
              <a:buSzPts val="1400"/>
              <a:buChar char="○"/>
            </a:pPr>
            <a:r>
              <a:rPr lang="en-US">
                <a:solidFill>
                  <a:srgbClr val="FFFFFF"/>
                </a:solidFill>
              </a:rPr>
              <a:t>Approved clubs added to directory</a:t>
            </a:r>
            <a:endParaRPr>
              <a:solidFill>
                <a:srgbClr val="FFFFFF"/>
              </a:solidFill>
            </a:endParaRPr>
          </a:p>
          <a:p>
            <a:pPr indent="0" lvl="0" marL="457200" rtl="0" algn="l">
              <a:spcBef>
                <a:spcPts val="0"/>
              </a:spcBef>
              <a:spcAft>
                <a:spcPts val="0"/>
              </a:spcAft>
              <a:buNone/>
            </a:pPr>
            <a:r>
              <a:t/>
            </a:r>
            <a:endParaRPr>
              <a:solidFill>
                <a:srgbClr val="FFFFFF"/>
              </a:solidFill>
            </a:endParaRPr>
          </a:p>
        </p:txBody>
      </p:sp>
      <p:sp>
        <p:nvSpPr>
          <p:cNvPr id="142" name="Google Shape;142;g3ccd56b5f7c_2_55"/>
          <p:cNvSpPr txBox="1"/>
          <p:nvPr/>
        </p:nvSpPr>
        <p:spPr>
          <a:xfrm>
            <a:off x="353650" y="2207475"/>
            <a:ext cx="7750500" cy="1293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Char char="●"/>
            </a:pPr>
            <a:r>
              <a:rPr lang="en-US" sz="1800">
                <a:solidFill>
                  <a:schemeClr val="dk1"/>
                </a:solidFill>
              </a:rPr>
              <a:t>Input Validation</a:t>
            </a:r>
            <a:endParaRPr sz="1800">
              <a:solidFill>
                <a:schemeClr val="dk1"/>
              </a:solidFill>
            </a:endParaRPr>
          </a:p>
          <a:p>
            <a:pPr indent="-317500" lvl="1" marL="914400" rtl="0" algn="l">
              <a:spcBef>
                <a:spcPts val="0"/>
              </a:spcBef>
              <a:spcAft>
                <a:spcPts val="0"/>
              </a:spcAft>
              <a:buClr>
                <a:schemeClr val="dk1"/>
              </a:buClr>
              <a:buSzPts val="1400"/>
              <a:buChar char="○"/>
            </a:pPr>
            <a:r>
              <a:rPr lang="en-US" sz="1800">
                <a:solidFill>
                  <a:schemeClr val="dk1"/>
                </a:solidFill>
              </a:rPr>
              <a:t>Required field validation</a:t>
            </a:r>
            <a:endParaRPr sz="1800">
              <a:solidFill>
                <a:schemeClr val="dk1"/>
              </a:solidFill>
            </a:endParaRPr>
          </a:p>
          <a:p>
            <a:pPr indent="-317500" lvl="1" marL="914400" rtl="0" algn="l">
              <a:spcBef>
                <a:spcPts val="0"/>
              </a:spcBef>
              <a:spcAft>
                <a:spcPts val="0"/>
              </a:spcAft>
              <a:buClr>
                <a:schemeClr val="dk1"/>
              </a:buClr>
              <a:buSzPts val="1400"/>
              <a:buChar char="○"/>
            </a:pPr>
            <a:r>
              <a:rPr lang="en-US" sz="1800">
                <a:solidFill>
                  <a:schemeClr val="dk1"/>
                </a:solidFill>
              </a:rPr>
              <a:t>Clear user error messages</a:t>
            </a:r>
            <a:endParaRPr sz="1800">
              <a:solidFill>
                <a:schemeClr val="dk1"/>
              </a:solidFill>
            </a:endParaRPr>
          </a:p>
          <a:p>
            <a:pPr indent="-317500" lvl="1" marL="914400" rtl="0" algn="l">
              <a:spcBef>
                <a:spcPts val="0"/>
              </a:spcBef>
              <a:spcAft>
                <a:spcPts val="0"/>
              </a:spcAft>
              <a:buClr>
                <a:schemeClr val="dk1"/>
              </a:buClr>
              <a:buSzPts val="1400"/>
              <a:buChar char="○"/>
            </a:pPr>
            <a:r>
              <a:rPr lang="en-US" sz="1800">
                <a:solidFill>
                  <a:schemeClr val="dk1"/>
                </a:solidFill>
              </a:rPr>
              <a:t>Access control for protected features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ccd56b5f7c_2_45"/>
          <p:cNvSpPr txBox="1"/>
          <p:nvPr>
            <p:ph type="title"/>
          </p:nvPr>
        </p:nvSpPr>
        <p:spPr>
          <a:xfrm>
            <a:off x="0" y="182100"/>
            <a:ext cx="9144000" cy="80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US" sz="2500">
                <a:solidFill>
                  <a:srgbClr val="FFFFFF"/>
                </a:solidFill>
                <a:latin typeface="Krona One"/>
                <a:ea typeface="Krona One"/>
                <a:cs typeface="Krona One"/>
                <a:sym typeface="Krona One"/>
              </a:rPr>
              <a:t>System Architecture &amp; Project Scope</a:t>
            </a:r>
            <a:endParaRPr sz="2500">
              <a:solidFill>
                <a:srgbClr val="FFFFFF"/>
              </a:solidFill>
              <a:latin typeface="Krona One"/>
              <a:ea typeface="Krona One"/>
              <a:cs typeface="Krona One"/>
              <a:sym typeface="Krona One"/>
            </a:endParaRPr>
          </a:p>
        </p:txBody>
      </p:sp>
      <p:sp>
        <p:nvSpPr>
          <p:cNvPr id="148" name="Google Shape;148;g3ccd56b5f7c_2_45"/>
          <p:cNvSpPr txBox="1"/>
          <p:nvPr>
            <p:ph idx="1" type="body"/>
          </p:nvPr>
        </p:nvSpPr>
        <p:spPr>
          <a:xfrm>
            <a:off x="276750" y="1152850"/>
            <a:ext cx="5810400" cy="1994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b="1" lang="en-US">
                <a:solidFill>
                  <a:schemeClr val="dk1"/>
                </a:solidFill>
              </a:rPr>
              <a:t>Model-View-Controller (MVC) </a:t>
            </a:r>
            <a:r>
              <a:rPr b="1" lang="en-US">
                <a:solidFill>
                  <a:srgbClr val="FFFFFF"/>
                </a:solidFill>
              </a:rPr>
              <a:t>Architecture</a:t>
            </a:r>
            <a:endParaRPr b="1">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Model: MongoDB + Mongoose</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View: HTML, CSS, Bootstrap, JavaScript, EJS</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Controller: </a:t>
            </a:r>
            <a:r>
              <a:rPr lang="en-US">
                <a:solidFill>
                  <a:schemeClr val="hlink"/>
                </a:solidFill>
                <a:uFill>
                  <a:noFill/>
                </a:uFill>
                <a:hlinkClick r:id="rId3"/>
              </a:rPr>
              <a:t>Node.js</a:t>
            </a:r>
            <a:r>
              <a:rPr lang="en-US">
                <a:solidFill>
                  <a:schemeClr val="dk1"/>
                </a:solidFill>
              </a:rPr>
              <a:t> + </a:t>
            </a:r>
            <a:r>
              <a:rPr lang="en-US">
                <a:solidFill>
                  <a:schemeClr val="hlink"/>
                </a:solidFill>
                <a:uFill>
                  <a:noFill/>
                </a:uFill>
                <a:hlinkClick r:id="rId4"/>
              </a:rPr>
              <a:t>Express.js</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Authentication: </a:t>
            </a:r>
            <a:r>
              <a:rPr lang="en-US">
                <a:solidFill>
                  <a:schemeClr val="hlink"/>
                </a:solidFill>
                <a:uFill>
                  <a:noFill/>
                </a:uFill>
                <a:hlinkClick r:id="rId5"/>
              </a:rPr>
              <a:t>Passport.js</a:t>
            </a:r>
            <a:r>
              <a:rPr lang="en-US">
                <a:solidFill>
                  <a:schemeClr val="dk1"/>
                </a:solidFill>
              </a:rPr>
              <a:t> </a:t>
            </a:r>
            <a:endParaRPr>
              <a:solidFill>
                <a:schemeClr val="dk1"/>
              </a:solidFill>
            </a:endParaRPr>
          </a:p>
          <a:p>
            <a:pPr indent="0" lvl="0" marL="0" rtl="0" algn="l">
              <a:spcBef>
                <a:spcPts val="0"/>
              </a:spcBef>
              <a:spcAft>
                <a:spcPts val="0"/>
              </a:spcAft>
              <a:buNone/>
            </a:pPr>
            <a:r>
              <a:t/>
            </a:r>
            <a:endParaRPr>
              <a:solidFill>
                <a:srgbClr val="FFFFFF"/>
              </a:solidFill>
            </a:endParaRPr>
          </a:p>
        </p:txBody>
      </p:sp>
      <p:sp>
        <p:nvSpPr>
          <p:cNvPr id="149" name="Google Shape;149;g3ccd56b5f7c_2_45"/>
          <p:cNvSpPr txBox="1"/>
          <p:nvPr/>
        </p:nvSpPr>
        <p:spPr>
          <a:xfrm>
            <a:off x="4609450" y="2594525"/>
            <a:ext cx="44175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rPr>
              <a:t>Project Boundaries</a:t>
            </a:r>
            <a:endParaRPr b="1"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no U of R system integration</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no payment processing</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no mobile application</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no real-time social media integration</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no production deployment</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
        <p:nvSpPr>
          <p:cNvPr id="150" name="Google Shape;150;g3ccd56b5f7c_2_45"/>
          <p:cNvSpPr txBox="1"/>
          <p:nvPr/>
        </p:nvSpPr>
        <p:spPr>
          <a:xfrm>
            <a:off x="183550" y="2532300"/>
            <a:ext cx="66504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rPr>
              <a:t>Core System Features</a:t>
            </a:r>
            <a:endParaRPr b="1" sz="1800">
              <a:solidFill>
                <a:schemeClr val="dk1"/>
              </a:solidFill>
            </a:endParaRPr>
          </a:p>
          <a:p>
            <a:pPr indent="-317500" lvl="0" marL="457200" rtl="0" algn="l">
              <a:spcBef>
                <a:spcPts val="0"/>
              </a:spcBef>
              <a:spcAft>
                <a:spcPts val="0"/>
              </a:spcAft>
              <a:buClr>
                <a:schemeClr val="dk1"/>
              </a:buClr>
              <a:buSzPts val="1400"/>
              <a:buChar char="●"/>
            </a:pPr>
            <a:r>
              <a:rPr lang="en-US" sz="1800">
                <a:solidFill>
                  <a:schemeClr val="dk1"/>
                </a:solidFill>
              </a:rPr>
              <a:t>Centralized club directory</a:t>
            </a:r>
            <a:endParaRPr sz="1800">
              <a:solidFill>
                <a:schemeClr val="dk1"/>
              </a:solidFill>
            </a:endParaRPr>
          </a:p>
          <a:p>
            <a:pPr indent="-317500" lvl="0" marL="457200" rtl="0" algn="l">
              <a:spcBef>
                <a:spcPts val="0"/>
              </a:spcBef>
              <a:spcAft>
                <a:spcPts val="0"/>
              </a:spcAft>
              <a:buClr>
                <a:schemeClr val="dk1"/>
              </a:buClr>
              <a:buSzPts val="1400"/>
              <a:buChar char="●"/>
            </a:pPr>
            <a:r>
              <a:rPr lang="en-US" sz="1800">
                <a:solidFill>
                  <a:schemeClr val="dk1"/>
                </a:solidFill>
              </a:rPr>
              <a:t>Club detail pages with events</a:t>
            </a:r>
            <a:endParaRPr sz="1800">
              <a:solidFill>
                <a:schemeClr val="dk1"/>
              </a:solidFill>
            </a:endParaRPr>
          </a:p>
          <a:p>
            <a:pPr indent="-317500" lvl="0" marL="457200" rtl="0" algn="l">
              <a:spcBef>
                <a:spcPts val="0"/>
              </a:spcBef>
              <a:spcAft>
                <a:spcPts val="0"/>
              </a:spcAft>
              <a:buClr>
                <a:schemeClr val="dk1"/>
              </a:buClr>
              <a:buSzPts val="1400"/>
              <a:buChar char="●"/>
            </a:pPr>
            <a:r>
              <a:rPr lang="en-US" sz="1800">
                <a:solidFill>
                  <a:schemeClr val="dk1"/>
                </a:solidFill>
              </a:rPr>
              <a:t>Search and Filtering</a:t>
            </a:r>
            <a:endParaRPr sz="1800">
              <a:solidFill>
                <a:schemeClr val="dk1"/>
              </a:solidFill>
            </a:endParaRPr>
          </a:p>
          <a:p>
            <a:pPr indent="-317500" lvl="0" marL="457200" rtl="0" algn="l">
              <a:spcBef>
                <a:spcPts val="0"/>
              </a:spcBef>
              <a:spcAft>
                <a:spcPts val="0"/>
              </a:spcAft>
              <a:buClr>
                <a:schemeClr val="dk1"/>
              </a:buClr>
              <a:buSzPts val="1400"/>
              <a:buChar char="●"/>
            </a:pPr>
            <a:r>
              <a:rPr lang="en-US" sz="1800">
                <a:solidFill>
                  <a:schemeClr val="dk1"/>
                </a:solidFill>
              </a:rPr>
              <a:t>User authentication system</a:t>
            </a:r>
            <a:endParaRPr sz="1800">
              <a:solidFill>
                <a:schemeClr val="dk1"/>
              </a:solidFill>
            </a:endParaRPr>
          </a:p>
          <a:p>
            <a:pPr indent="-317500" lvl="0" marL="457200" rtl="0" algn="l">
              <a:spcBef>
                <a:spcPts val="0"/>
              </a:spcBef>
              <a:spcAft>
                <a:spcPts val="0"/>
              </a:spcAft>
              <a:buClr>
                <a:schemeClr val="dk1"/>
              </a:buClr>
              <a:buSzPts val="1400"/>
              <a:buChar char="●"/>
            </a:pPr>
            <a:r>
              <a:rPr lang="en-US" sz="1800">
                <a:solidFill>
                  <a:schemeClr val="dk1"/>
                </a:solidFill>
              </a:rPr>
              <a:t>Join club request workflow</a:t>
            </a:r>
            <a:endParaRPr sz="1800">
              <a:solidFill>
                <a:schemeClr val="dk1"/>
              </a:solidFill>
            </a:endParaRPr>
          </a:p>
          <a:p>
            <a:pPr indent="-317500" lvl="0" marL="457200" rtl="0" algn="l">
              <a:spcBef>
                <a:spcPts val="0"/>
              </a:spcBef>
              <a:spcAft>
                <a:spcPts val="0"/>
              </a:spcAft>
              <a:buClr>
                <a:schemeClr val="dk1"/>
              </a:buClr>
              <a:buSzPts val="1400"/>
              <a:buChar char="●"/>
            </a:pPr>
            <a:r>
              <a:rPr lang="en-US" sz="1800">
                <a:solidFill>
                  <a:schemeClr val="dk1"/>
                </a:solidFill>
              </a:rPr>
              <a:t>Club creation proposal workflow</a:t>
            </a:r>
            <a:endParaRPr sz="1800">
              <a:solidFill>
                <a:schemeClr val="dk1"/>
              </a:solidFill>
            </a:endParaRPr>
          </a:p>
          <a:p>
            <a:pPr indent="-317500" lvl="0" marL="457200" rtl="0" algn="l">
              <a:spcBef>
                <a:spcPts val="0"/>
              </a:spcBef>
              <a:spcAft>
                <a:spcPts val="0"/>
              </a:spcAft>
              <a:buClr>
                <a:schemeClr val="dk1"/>
              </a:buClr>
              <a:buSzPts val="1400"/>
              <a:buChar char="●"/>
            </a:pPr>
            <a:r>
              <a:rPr lang="en-US" sz="1800">
                <a:solidFill>
                  <a:schemeClr val="dk1"/>
                </a:solidFill>
              </a:rPr>
              <a:t>Role-based Access Control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cca83d6d18_0_10"/>
          <p:cNvSpPr txBox="1"/>
          <p:nvPr>
            <p:ph type="title"/>
          </p:nvPr>
        </p:nvSpPr>
        <p:spPr>
          <a:xfrm>
            <a:off x="0" y="155675"/>
            <a:ext cx="9144000" cy="80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US" sz="2500">
                <a:solidFill>
                  <a:srgbClr val="FFFFFF"/>
                </a:solidFill>
                <a:latin typeface="Krona One"/>
                <a:ea typeface="Krona One"/>
                <a:cs typeface="Krona One"/>
                <a:sym typeface="Krona One"/>
              </a:rPr>
              <a:t>User Roles</a:t>
            </a:r>
            <a:endParaRPr sz="2500">
              <a:solidFill>
                <a:srgbClr val="FFFFFF"/>
              </a:solidFill>
              <a:latin typeface="Krona One"/>
              <a:ea typeface="Krona One"/>
              <a:cs typeface="Krona One"/>
              <a:sym typeface="Krona One"/>
            </a:endParaRPr>
          </a:p>
        </p:txBody>
      </p:sp>
      <p:sp>
        <p:nvSpPr>
          <p:cNvPr id="156" name="Google Shape;156;g3cca83d6d18_0_10"/>
          <p:cNvSpPr txBox="1"/>
          <p:nvPr>
            <p:ph idx="1" type="body"/>
          </p:nvPr>
        </p:nvSpPr>
        <p:spPr>
          <a:xfrm>
            <a:off x="457350" y="1692075"/>
            <a:ext cx="6299700" cy="2982900"/>
          </a:xfrm>
          <a:prstGeom prst="rect">
            <a:avLst/>
          </a:prstGeom>
        </p:spPr>
        <p:txBody>
          <a:bodyPr anchorCtr="0" anchor="t" bIns="0" lIns="0" spcFirstLastPara="1" rIns="0" wrap="square" tIns="0">
            <a:normAutofit fontScale="92500" lnSpcReduction="20000"/>
          </a:bodyPr>
          <a:lstStyle/>
          <a:p>
            <a:pPr indent="0" lvl="0" marL="0" rtl="0" algn="l">
              <a:lnSpc>
                <a:spcPct val="150000"/>
              </a:lnSpc>
              <a:spcBef>
                <a:spcPts val="0"/>
              </a:spcBef>
              <a:spcAft>
                <a:spcPts val="0"/>
              </a:spcAft>
              <a:buNone/>
            </a:pPr>
            <a:r>
              <a:rPr lang="en-US">
                <a:solidFill>
                  <a:srgbClr val="FFFFFF"/>
                </a:solidFill>
              </a:rPr>
              <a:t>Our plan is to have 4 types of users, in order of impact on the site:</a:t>
            </a:r>
            <a:endParaRPr>
              <a:solidFill>
                <a:srgbClr val="FFFFFF"/>
              </a:solidFill>
            </a:endParaRPr>
          </a:p>
          <a:p>
            <a:pPr indent="0" lvl="0" marL="0" rtl="0" algn="l">
              <a:lnSpc>
                <a:spcPct val="150000"/>
              </a:lnSpc>
              <a:spcBef>
                <a:spcPts val="0"/>
              </a:spcBef>
              <a:spcAft>
                <a:spcPts val="0"/>
              </a:spcAft>
              <a:buNone/>
            </a:pPr>
            <a:r>
              <a:rPr lang="en-US">
                <a:solidFill>
                  <a:schemeClr val="dk1"/>
                </a:solidFill>
              </a:rPr>
              <a:t>-(A)Administrators: Executive control over site.</a:t>
            </a:r>
            <a:endParaRPr>
              <a:solidFill>
                <a:schemeClr val="dk1"/>
              </a:solidFill>
            </a:endParaRPr>
          </a:p>
          <a:p>
            <a:pPr indent="0" lvl="0" marL="0" rtl="0" algn="l">
              <a:lnSpc>
                <a:spcPct val="150000"/>
              </a:lnSpc>
              <a:spcBef>
                <a:spcPts val="0"/>
              </a:spcBef>
              <a:spcAft>
                <a:spcPts val="0"/>
              </a:spcAft>
              <a:buNone/>
            </a:pPr>
            <a:r>
              <a:rPr lang="en-US">
                <a:solidFill>
                  <a:schemeClr val="dk1"/>
                </a:solidFill>
              </a:rPr>
              <a:t>-(3)Club Organizers: Can manage respective club.</a:t>
            </a:r>
            <a:endParaRPr>
              <a:solidFill>
                <a:schemeClr val="dk1"/>
              </a:solidFill>
            </a:endParaRPr>
          </a:p>
          <a:p>
            <a:pPr indent="0" lvl="0" marL="0" rtl="0" algn="l">
              <a:lnSpc>
                <a:spcPct val="150000"/>
              </a:lnSpc>
              <a:spcBef>
                <a:spcPts val="0"/>
              </a:spcBef>
              <a:spcAft>
                <a:spcPts val="0"/>
              </a:spcAft>
              <a:buNone/>
            </a:pPr>
            <a:r>
              <a:rPr lang="en-US">
                <a:solidFill>
                  <a:schemeClr val="dk1"/>
                </a:solidFill>
              </a:rPr>
              <a:t>-(2)Students: Can join clubs.</a:t>
            </a:r>
            <a:endParaRPr>
              <a:solidFill>
                <a:schemeClr val="dk1"/>
              </a:solidFill>
            </a:endParaRPr>
          </a:p>
          <a:p>
            <a:pPr indent="0" lvl="0" marL="0" rtl="0" algn="l">
              <a:lnSpc>
                <a:spcPct val="150000"/>
              </a:lnSpc>
              <a:spcBef>
                <a:spcPts val="0"/>
              </a:spcBef>
              <a:spcAft>
                <a:spcPts val="0"/>
              </a:spcAft>
              <a:buNone/>
            </a:pPr>
            <a:r>
              <a:rPr lang="en-US">
                <a:solidFill>
                  <a:srgbClr val="FFFFFF"/>
                </a:solidFill>
              </a:rPr>
              <a:t>-(1)Guests: Can only view information.</a:t>
            </a:r>
            <a:endParaRPr>
              <a:solidFill>
                <a:srgbClr val="FFFFFF"/>
              </a:solidFill>
            </a:endParaRPr>
          </a:p>
          <a:p>
            <a:pPr indent="0" lvl="0" marL="0" rtl="0" algn="l">
              <a:lnSpc>
                <a:spcPct val="150000"/>
              </a:lnSpc>
              <a:spcBef>
                <a:spcPts val="0"/>
              </a:spcBef>
              <a:spcAft>
                <a:spcPts val="0"/>
              </a:spcAft>
              <a:buNone/>
            </a:pPr>
            <a:r>
              <a:t/>
            </a:r>
            <a:endParaRPr>
              <a:solidFill>
                <a:srgbClr val="FFFFFF"/>
              </a:solidFill>
            </a:endParaRPr>
          </a:p>
          <a:p>
            <a:pPr indent="0" lvl="0" marL="0" rtl="0" algn="l">
              <a:lnSpc>
                <a:spcPct val="150000"/>
              </a:lnSpc>
              <a:spcBef>
                <a:spcPts val="0"/>
              </a:spcBef>
              <a:spcAft>
                <a:spcPts val="0"/>
              </a:spcAft>
              <a:buNone/>
            </a:pPr>
            <a:r>
              <a:rPr lang="en-US">
                <a:solidFill>
                  <a:srgbClr val="FFFFFF"/>
                </a:solidFill>
              </a:rPr>
              <a:t>In addition, users have access to anything that</a:t>
            </a:r>
            <a:endParaRPr>
              <a:solidFill>
                <a:srgbClr val="FFFFFF"/>
              </a:solidFill>
            </a:endParaRPr>
          </a:p>
          <a:p>
            <a:pPr indent="0" lvl="0" marL="0" rtl="0" algn="l">
              <a:lnSpc>
                <a:spcPct val="150000"/>
              </a:lnSpc>
              <a:spcBef>
                <a:spcPts val="0"/>
              </a:spcBef>
              <a:spcAft>
                <a:spcPts val="0"/>
              </a:spcAft>
              <a:buNone/>
            </a:pPr>
            <a:r>
              <a:rPr lang="en-US">
                <a:solidFill>
                  <a:srgbClr val="FFFFFF"/>
                </a:solidFill>
              </a:rPr>
              <a:t>below users can do.</a:t>
            </a:r>
            <a:endParaRPr>
              <a:solidFill>
                <a:srgbClr val="FFFFFF"/>
              </a:solidFill>
            </a:endParaRPr>
          </a:p>
          <a:p>
            <a:pPr indent="0" lvl="0" marL="0" rtl="0" algn="l">
              <a:spcBef>
                <a:spcPts val="0"/>
              </a:spcBef>
              <a:spcAft>
                <a:spcPts val="0"/>
              </a:spcAft>
              <a:buNone/>
            </a:pPr>
            <a:r>
              <a:t/>
            </a:r>
            <a:endParaRPr>
              <a:solidFill>
                <a:srgbClr val="FFFFFF"/>
              </a:solidFill>
            </a:endParaRPr>
          </a:p>
        </p:txBody>
      </p:sp>
      <p:sp>
        <p:nvSpPr>
          <p:cNvPr id="157" name="Google Shape;157;g3cca83d6d18_0_10"/>
          <p:cNvSpPr/>
          <p:nvPr/>
        </p:nvSpPr>
        <p:spPr>
          <a:xfrm>
            <a:off x="5966675" y="1692075"/>
            <a:ext cx="2865600" cy="2478600"/>
          </a:xfrm>
          <a:prstGeom prst="triangle">
            <a:avLst>
              <a:gd fmla="val 50000" name="adj"/>
            </a:avLst>
          </a:prstGeom>
          <a:solidFill>
            <a:srgbClr val="00502E"/>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g3cca83d6d18_0_10"/>
          <p:cNvSpPr/>
          <p:nvPr/>
        </p:nvSpPr>
        <p:spPr>
          <a:xfrm>
            <a:off x="5966667" y="2140925"/>
            <a:ext cx="2352900" cy="2035200"/>
          </a:xfrm>
          <a:prstGeom prst="triangle">
            <a:avLst>
              <a:gd fmla="val 50000" name="adj"/>
            </a:avLst>
          </a:prstGeom>
          <a:solidFill>
            <a:srgbClr val="FFC82E"/>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g3cca83d6d18_0_10"/>
          <p:cNvSpPr/>
          <p:nvPr/>
        </p:nvSpPr>
        <p:spPr>
          <a:xfrm>
            <a:off x="6434375" y="2540500"/>
            <a:ext cx="1885200" cy="1630500"/>
          </a:xfrm>
          <a:prstGeom prst="triangle">
            <a:avLst>
              <a:gd fmla="val 50000" name="adj"/>
            </a:avLst>
          </a:prstGeom>
          <a:solidFill>
            <a:srgbClr val="E06666"/>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A9999"/>
              </a:solidFill>
            </a:endParaRPr>
          </a:p>
        </p:txBody>
      </p:sp>
      <p:sp>
        <p:nvSpPr>
          <p:cNvPr id="160" name="Google Shape;160;g3cca83d6d18_0_10"/>
          <p:cNvSpPr/>
          <p:nvPr/>
        </p:nvSpPr>
        <p:spPr>
          <a:xfrm>
            <a:off x="6434375" y="2901900"/>
            <a:ext cx="1467300" cy="1269000"/>
          </a:xfrm>
          <a:prstGeom prst="triangle">
            <a:avLst>
              <a:gd fmla="val 50000" name="adj"/>
            </a:avLst>
          </a:prstGeom>
          <a:solidFill>
            <a:srgbClr val="6D9EEB"/>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A9999"/>
              </a:solidFill>
            </a:endParaRPr>
          </a:p>
        </p:txBody>
      </p:sp>
      <p:sp>
        <p:nvSpPr>
          <p:cNvPr id="161" name="Google Shape;161;g3cca83d6d18_0_10"/>
          <p:cNvSpPr txBox="1"/>
          <p:nvPr/>
        </p:nvSpPr>
        <p:spPr>
          <a:xfrm>
            <a:off x="7232675" y="1836450"/>
            <a:ext cx="288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latin typeface="Impact"/>
                <a:ea typeface="Impact"/>
                <a:cs typeface="Impact"/>
                <a:sym typeface="Impact"/>
              </a:rPr>
              <a:t>A</a:t>
            </a:r>
            <a:endParaRPr sz="1700">
              <a:solidFill>
                <a:schemeClr val="dk1"/>
              </a:solidFill>
              <a:latin typeface="Impact"/>
              <a:ea typeface="Impact"/>
              <a:cs typeface="Impact"/>
              <a:sym typeface="Impact"/>
            </a:endParaRPr>
          </a:p>
        </p:txBody>
      </p:sp>
      <p:sp>
        <p:nvSpPr>
          <p:cNvPr id="162" name="Google Shape;162;g3cca83d6d18_0_10"/>
          <p:cNvSpPr txBox="1"/>
          <p:nvPr/>
        </p:nvSpPr>
        <p:spPr>
          <a:xfrm>
            <a:off x="6998825" y="2292388"/>
            <a:ext cx="288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latin typeface="Impact"/>
                <a:ea typeface="Impact"/>
                <a:cs typeface="Impact"/>
                <a:sym typeface="Impact"/>
              </a:rPr>
              <a:t>3</a:t>
            </a:r>
            <a:endParaRPr sz="1700">
              <a:solidFill>
                <a:schemeClr val="dk1"/>
              </a:solidFill>
              <a:latin typeface="Impact"/>
              <a:ea typeface="Impact"/>
              <a:cs typeface="Impact"/>
              <a:sym typeface="Impact"/>
            </a:endParaRPr>
          </a:p>
        </p:txBody>
      </p:sp>
      <p:sp>
        <p:nvSpPr>
          <p:cNvPr id="163" name="Google Shape;163;g3cca83d6d18_0_10"/>
          <p:cNvSpPr txBox="1"/>
          <p:nvPr/>
        </p:nvSpPr>
        <p:spPr>
          <a:xfrm>
            <a:off x="7232675" y="2680025"/>
            <a:ext cx="288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latin typeface="Impact"/>
                <a:ea typeface="Impact"/>
                <a:cs typeface="Impact"/>
                <a:sym typeface="Impact"/>
              </a:rPr>
              <a:t>2</a:t>
            </a:r>
            <a:endParaRPr sz="1700">
              <a:solidFill>
                <a:schemeClr val="dk1"/>
              </a:solidFill>
              <a:latin typeface="Impact"/>
              <a:ea typeface="Impact"/>
              <a:cs typeface="Impact"/>
              <a:sym typeface="Impact"/>
            </a:endParaRPr>
          </a:p>
        </p:txBody>
      </p:sp>
      <p:sp>
        <p:nvSpPr>
          <p:cNvPr id="164" name="Google Shape;164;g3cca83d6d18_0_10"/>
          <p:cNvSpPr txBox="1"/>
          <p:nvPr/>
        </p:nvSpPr>
        <p:spPr>
          <a:xfrm>
            <a:off x="7023725" y="3019450"/>
            <a:ext cx="288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latin typeface="Impact"/>
                <a:ea typeface="Impact"/>
                <a:cs typeface="Impact"/>
                <a:sym typeface="Impact"/>
              </a:rPr>
              <a:t>1</a:t>
            </a:r>
            <a:endParaRPr sz="1700">
              <a:solidFill>
                <a:schemeClr val="dk1"/>
              </a:solidFill>
              <a:latin typeface="Impact"/>
              <a:ea typeface="Impact"/>
              <a:cs typeface="Impact"/>
              <a:sym typeface="Impact"/>
            </a:endParaRPr>
          </a:p>
        </p:txBody>
      </p:sp>
      <p:sp>
        <p:nvSpPr>
          <p:cNvPr id="165" name="Google Shape;165;g3cca83d6d18_0_10"/>
          <p:cNvSpPr txBox="1"/>
          <p:nvPr/>
        </p:nvSpPr>
        <p:spPr>
          <a:xfrm>
            <a:off x="5970050" y="4227800"/>
            <a:ext cx="31845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solidFill>
                  <a:srgbClr val="FFFFFF"/>
                </a:solidFill>
              </a:rPr>
              <a:t>The capabilities of role 3 encompass itself, along with roles of lower number.</a:t>
            </a:r>
            <a:endParaRPr sz="130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g3ccd56b5f7c_1_0" title="Untitled design (24).png"/>
          <p:cNvPicPr preferRelativeResize="0"/>
          <p:nvPr/>
        </p:nvPicPr>
        <p:blipFill>
          <a:blip r:embed="rId3">
            <a:alphaModFix/>
          </a:blip>
          <a:stretch>
            <a:fillRect/>
          </a:stretch>
        </p:blipFill>
        <p:spPr>
          <a:xfrm>
            <a:off x="603375" y="367500"/>
            <a:ext cx="7837349" cy="4408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g3ccd56b5f7c_1_6" title="Class Diagram.png"/>
          <p:cNvPicPr preferRelativeResize="0"/>
          <p:nvPr/>
        </p:nvPicPr>
        <p:blipFill>
          <a:blip r:embed="rId3">
            <a:alphaModFix/>
          </a:blip>
          <a:stretch>
            <a:fillRect/>
          </a:stretch>
        </p:blipFill>
        <p:spPr>
          <a:xfrm>
            <a:off x="670225" y="377000"/>
            <a:ext cx="7803552" cy="43895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cca83d6d18_0_17"/>
          <p:cNvSpPr txBox="1"/>
          <p:nvPr>
            <p:ph type="title"/>
          </p:nvPr>
        </p:nvSpPr>
        <p:spPr>
          <a:xfrm>
            <a:off x="118525" y="885425"/>
            <a:ext cx="2770800" cy="8061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US" sz="2500">
                <a:solidFill>
                  <a:srgbClr val="FFFFFF"/>
                </a:solidFill>
                <a:latin typeface="Krona One"/>
                <a:ea typeface="Krona One"/>
                <a:cs typeface="Krona One"/>
                <a:sym typeface="Krona One"/>
              </a:rPr>
              <a:t>Design and Layout</a:t>
            </a:r>
            <a:endParaRPr sz="2500">
              <a:solidFill>
                <a:srgbClr val="FFFFFF"/>
              </a:solidFill>
              <a:latin typeface="Krona One"/>
              <a:ea typeface="Krona One"/>
              <a:cs typeface="Krona One"/>
              <a:sym typeface="Krona One"/>
            </a:endParaRPr>
          </a:p>
        </p:txBody>
      </p:sp>
      <p:pic>
        <p:nvPicPr>
          <p:cNvPr id="181" name="Google Shape;181;g3cca83d6d18_0_17" title="UR-Involved-Sitemap.png"/>
          <p:cNvPicPr preferRelativeResize="0"/>
          <p:nvPr/>
        </p:nvPicPr>
        <p:blipFill>
          <a:blip r:embed="rId3">
            <a:alphaModFix/>
          </a:blip>
          <a:stretch>
            <a:fillRect/>
          </a:stretch>
        </p:blipFill>
        <p:spPr>
          <a:xfrm>
            <a:off x="3096325" y="618125"/>
            <a:ext cx="5742875" cy="4083822"/>
          </a:xfrm>
          <a:prstGeom prst="rect">
            <a:avLst/>
          </a:prstGeom>
          <a:noFill/>
          <a:ln>
            <a:noFill/>
          </a:ln>
        </p:spPr>
      </p:pic>
      <p:sp>
        <p:nvSpPr>
          <p:cNvPr id="182" name="Google Shape;182;g3cca83d6d18_0_17"/>
          <p:cNvSpPr txBox="1"/>
          <p:nvPr/>
        </p:nvSpPr>
        <p:spPr>
          <a:xfrm>
            <a:off x="118525" y="1939425"/>
            <a:ext cx="2770800" cy="1693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rgbClr val="F9F9F9"/>
              </a:buClr>
              <a:buSzPts val="1400"/>
              <a:buChar char="●"/>
            </a:pPr>
            <a:r>
              <a:rPr lang="en-US">
                <a:solidFill>
                  <a:srgbClr val="F9F9F9"/>
                </a:solidFill>
              </a:rPr>
              <a:t>Each club will have club details page. Club details page will include events, news and request to join tabs</a:t>
            </a:r>
            <a:endParaRPr>
              <a:solidFill>
                <a:srgbClr val="F9F9F9"/>
              </a:solidFill>
            </a:endParaRPr>
          </a:p>
          <a:p>
            <a:pPr indent="-317500" lvl="0" marL="457200" rtl="0" algn="l">
              <a:spcBef>
                <a:spcPts val="0"/>
              </a:spcBef>
              <a:spcAft>
                <a:spcPts val="0"/>
              </a:spcAft>
              <a:buClr>
                <a:srgbClr val="F9F9F9"/>
              </a:buClr>
              <a:buSzPts val="1400"/>
              <a:buChar char="●"/>
            </a:pPr>
            <a:r>
              <a:rPr lang="en-US">
                <a:solidFill>
                  <a:srgbClr val="F9F9F9"/>
                </a:solidFill>
              </a:rPr>
              <a:t>We will look at the most important pages next</a:t>
            </a:r>
            <a:endParaRPr>
              <a:solidFill>
                <a:srgbClr val="F9F9F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c502f1063f_0_5"/>
          <p:cNvSpPr txBox="1"/>
          <p:nvPr>
            <p:ph type="title"/>
          </p:nvPr>
        </p:nvSpPr>
        <p:spPr>
          <a:xfrm>
            <a:off x="0" y="1100125"/>
            <a:ext cx="9144000" cy="15618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4400"/>
              <a:buFont typeface="Krona One"/>
              <a:buNone/>
            </a:pPr>
            <a:r>
              <a:rPr lang="en-US" sz="5700">
                <a:solidFill>
                  <a:schemeClr val="dk1"/>
                </a:solidFill>
                <a:latin typeface="Krona One"/>
                <a:ea typeface="Krona One"/>
                <a:cs typeface="Krona One"/>
                <a:sym typeface="Krona One"/>
              </a:rPr>
              <a:t>Prototype</a:t>
            </a:r>
            <a:endParaRPr sz="5700" u="none" strike="noStrike">
              <a:solidFill>
                <a:schemeClr val="dk1"/>
              </a:solidFill>
              <a:latin typeface="Krona One"/>
              <a:ea typeface="Krona One"/>
              <a:cs typeface="Krona One"/>
              <a:sym typeface="Krona On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c502f1063f_0_114"/>
          <p:cNvSpPr txBox="1"/>
          <p:nvPr>
            <p:ph type="title"/>
          </p:nvPr>
        </p:nvSpPr>
        <p:spPr>
          <a:xfrm>
            <a:off x="0" y="0"/>
            <a:ext cx="9144000" cy="15618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4400"/>
              <a:buFont typeface="Krona One"/>
              <a:buNone/>
            </a:pPr>
            <a:r>
              <a:rPr lang="en-US" sz="4400">
                <a:solidFill>
                  <a:schemeClr val="dk1"/>
                </a:solidFill>
                <a:latin typeface="Krona One"/>
                <a:ea typeface="Krona One"/>
                <a:cs typeface="Krona One"/>
                <a:sym typeface="Krona One"/>
              </a:rPr>
              <a:t>Questionnaire</a:t>
            </a:r>
            <a:endParaRPr sz="4400" u="none" strike="noStrike">
              <a:solidFill>
                <a:schemeClr val="dk1"/>
              </a:solidFill>
              <a:latin typeface="Krona One"/>
              <a:ea typeface="Krona One"/>
              <a:cs typeface="Krona One"/>
              <a:sym typeface="Krona One"/>
            </a:endParaRPr>
          </a:p>
        </p:txBody>
      </p:sp>
      <p:sp>
        <p:nvSpPr>
          <p:cNvPr id="193" name="Google Shape;193;g3c502f1063f_0_114"/>
          <p:cNvSpPr txBox="1"/>
          <p:nvPr/>
        </p:nvSpPr>
        <p:spPr>
          <a:xfrm>
            <a:off x="316275" y="1830325"/>
            <a:ext cx="79746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rPr>
              <a:t>Based on this club detail page, would you feel you have enough information to decide whether to join a club?</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
        <p:nvSpPr>
          <p:cNvPr id="194" name="Google Shape;194;g3c502f1063f_0_114"/>
          <p:cNvSpPr txBox="1"/>
          <p:nvPr/>
        </p:nvSpPr>
        <p:spPr>
          <a:xfrm>
            <a:off x="345925" y="2570975"/>
            <a:ext cx="8594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rPr>
              <a:t>What are your opinions on the lofi prototype so far. Any recommendations?</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
        <p:nvSpPr>
          <p:cNvPr id="195" name="Google Shape;195;g3c502f1063f_0_114"/>
          <p:cNvSpPr txBox="1"/>
          <p:nvPr/>
        </p:nvSpPr>
        <p:spPr>
          <a:xfrm>
            <a:off x="345925" y="2788625"/>
            <a:ext cx="84819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US" sz="1800">
                <a:solidFill>
                  <a:schemeClr val="dk1"/>
                </a:solidFill>
              </a:rPr>
              <a:t>Would you add/remove anything from the current site map?</a:t>
            </a:r>
            <a:endParaRPr sz="1800">
              <a:solidFill>
                <a:schemeClr val="dk1"/>
              </a:solidFill>
            </a:endParaRPr>
          </a:p>
          <a:p>
            <a:pPr indent="0" lvl="0" marL="0" rtl="0" algn="l">
              <a:spcBef>
                <a:spcPts val="0"/>
              </a:spcBef>
              <a:spcAft>
                <a:spcPts val="0"/>
              </a:spcAft>
              <a:buNone/>
            </a:pPr>
            <a:r>
              <a:t/>
            </a:r>
            <a:endParaRPr/>
          </a:p>
        </p:txBody>
      </p:sp>
      <p:sp>
        <p:nvSpPr>
          <p:cNvPr id="196" name="Google Shape;196;g3c502f1063f_0_114"/>
          <p:cNvSpPr txBox="1"/>
          <p:nvPr/>
        </p:nvSpPr>
        <p:spPr>
          <a:xfrm>
            <a:off x="345925" y="4556400"/>
            <a:ext cx="7178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rPr>
              <a:t>Is there anything else we </a:t>
            </a:r>
            <a:r>
              <a:rPr lang="en-US" sz="1800">
                <a:solidFill>
                  <a:schemeClr val="dk1"/>
                </a:solidFill>
              </a:rPr>
              <a:t>should</a:t>
            </a:r>
            <a:r>
              <a:rPr lang="en-US" sz="1800">
                <a:solidFill>
                  <a:schemeClr val="dk1"/>
                </a:solidFill>
              </a:rPr>
              <a:t> add to the </a:t>
            </a:r>
            <a:r>
              <a:rPr lang="en-US" sz="1800">
                <a:solidFill>
                  <a:schemeClr val="dk1"/>
                </a:solidFill>
              </a:rPr>
              <a:t>dashboard</a:t>
            </a:r>
            <a:r>
              <a:rPr lang="en-US" sz="1800">
                <a:solidFill>
                  <a:schemeClr val="dk1"/>
                </a:solidFill>
              </a:rPr>
              <a:t>?</a:t>
            </a:r>
            <a:endParaRPr sz="1800">
              <a:solidFill>
                <a:schemeClr val="dk1"/>
              </a:solidFill>
            </a:endParaRPr>
          </a:p>
        </p:txBody>
      </p:sp>
      <p:sp>
        <p:nvSpPr>
          <p:cNvPr id="197" name="Google Shape;197;g3c502f1063f_0_114"/>
          <p:cNvSpPr txBox="1"/>
          <p:nvPr/>
        </p:nvSpPr>
        <p:spPr>
          <a:xfrm>
            <a:off x="345925" y="3309875"/>
            <a:ext cx="77886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US" sz="1800">
                <a:solidFill>
                  <a:schemeClr val="dk1"/>
                </a:solidFill>
              </a:rPr>
              <a:t>What parts of the design did you like?</a:t>
            </a:r>
            <a:endParaRPr sz="1800">
              <a:solidFill>
                <a:schemeClr val="dk1"/>
              </a:solidFill>
            </a:endParaRPr>
          </a:p>
          <a:p>
            <a:pPr indent="0" lvl="0" marL="0" rtl="0" algn="l">
              <a:spcBef>
                <a:spcPts val="0"/>
              </a:spcBef>
              <a:spcAft>
                <a:spcPts val="0"/>
              </a:spcAft>
              <a:buNone/>
            </a:pPr>
            <a:r>
              <a:t/>
            </a:r>
            <a:endParaRPr/>
          </a:p>
        </p:txBody>
      </p:sp>
      <p:sp>
        <p:nvSpPr>
          <p:cNvPr id="198" name="Google Shape;198;g3c502f1063f_0_114"/>
          <p:cNvSpPr txBox="1"/>
          <p:nvPr/>
        </p:nvSpPr>
        <p:spPr>
          <a:xfrm>
            <a:off x="345925" y="4094700"/>
            <a:ext cx="6700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rPr>
              <a:t>What parts of the design did you dislike?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Creative Startup Pitch Deck">
  <a:themeElements>
    <a:clrScheme name="Simple Light">
      <a:dk1>
        <a:srgbClr val="FFFFFF"/>
      </a:dk1>
      <a:lt1>
        <a:srgbClr val="132644"/>
      </a:lt1>
      <a:dk2>
        <a:srgbClr val="1645D3"/>
      </a:dk2>
      <a:lt2>
        <a:srgbClr val="8AC1DC"/>
      </a:lt2>
      <a:accent1>
        <a:srgbClr val="E0FE68"/>
      </a:accent1>
      <a:accent2>
        <a:srgbClr val="9900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2026-01-28T02:14:52Z</dcterms:created>
  <dc:creator>Unknown Creator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12.0</vt:r8>
  </property>
</Properties>
</file>